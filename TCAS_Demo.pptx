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8" r:id="rId3"/>
    <p:sldId id="257" r:id="rId4"/>
    <p:sldId id="266" r:id="rId5"/>
    <p:sldId id="265" r:id="rId6"/>
    <p:sldId id="267" r:id="rId7"/>
    <p:sldId id="269" r:id="rId8"/>
    <p:sldId id="268" r:id="rId9"/>
    <p:sldId id="259" r:id="rId10"/>
    <p:sldId id="270" r:id="rId11"/>
    <p:sldId id="271" r:id="rId12"/>
    <p:sldId id="262" r:id="rId13"/>
    <p:sldId id="264"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100" d="100"/>
          <a:sy n="100" d="100"/>
        </p:scale>
        <p:origin x="400" y="2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2026/7/8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In this article, we proposeSelf-Adaptive Feature Fusion Segmentation Network Based on Transfer Learning for Medical Image Segmentation , called SAFFSNet.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Secondly,</a:t>
            </a:r>
            <a:r>
              <a:rPr lang="en-US" altLang="zh-CN"/>
              <a:t> Multi-Dimensional Hierarchical Feature Fusion module improves the robustness of our </a:t>
            </a:r>
            <a:r>
              <a:rPr lang="en-US" altLang="zh-CN">
                <a:latin typeface="Times New Roman" panose="02020603050405020304" charset="0"/>
                <a:cs typeface="Times New Roman" panose="02020603050405020304" charset="0"/>
                <a:sym typeface="+mn-ea"/>
              </a:rPr>
              <a:t>framework</a:t>
            </a:r>
            <a:r>
              <a:rPr lang="en-US" altLang="zh-CN"/>
              <a:t> against noise interference and complex morphological targets, which realizes dynamic alignment and fusion of multi-level features through the synergy of frequency, space, and channel attention mechanisms.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A1921-CFBB-F832-397C-DE02069040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9BB621-A396-4C46-FCA8-F9E16E88776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DDF3624-6685-C8BD-7E63-5071D454A031}"/>
              </a:ext>
            </a:extLst>
          </p:cNvPr>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extLst>
      <p:ext uri="{BB962C8B-B14F-4D97-AF65-F5344CB8AC3E}">
        <p14:creationId xmlns:p14="http://schemas.microsoft.com/office/powerpoint/2010/main" val="157243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D029-DFB5-37AA-E79F-4315D9FEE7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16BB96-239E-9B93-CAF4-D5DF4034E7E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347BFFC-1550-66B2-28A1-19F94AA81A85}"/>
              </a:ext>
            </a:extLst>
          </p:cNvPr>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extLst>
      <p:ext uri="{BB962C8B-B14F-4D97-AF65-F5344CB8AC3E}">
        <p14:creationId xmlns:p14="http://schemas.microsoft.com/office/powerpoint/2010/main" val="2506684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34FA4-51A3-78A2-8E45-A84925BF3F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8F5CF2-317E-780F-FC2B-3AED9BF12F9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11481C9-52E8-7CD4-D427-7A52676C253A}"/>
              </a:ext>
            </a:extLst>
          </p:cNvPr>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extLst>
      <p:ext uri="{BB962C8B-B14F-4D97-AF65-F5344CB8AC3E}">
        <p14:creationId xmlns:p14="http://schemas.microsoft.com/office/powerpoint/2010/main" val="2179775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73C26-ACFA-0BB5-3C3C-C45E7F9AE8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3B7AEE-EAA7-ECC1-68BF-F101DDC62CCD}"/>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CC7AF0A-B7FB-BF9D-32A3-920195EDAFE4}"/>
              </a:ext>
            </a:extLst>
          </p:cNvPr>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extLst>
      <p:ext uri="{BB962C8B-B14F-4D97-AF65-F5344CB8AC3E}">
        <p14:creationId xmlns:p14="http://schemas.microsoft.com/office/powerpoint/2010/main" val="1175000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142ED-C9F5-2DE8-274C-5A167BFEA0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28F160-3902-4796-B179-9C7EE5F87C6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30C83BF-383D-1D50-3AAC-0A9B33BE2359}"/>
              </a:ext>
            </a:extLst>
          </p:cNvPr>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extLst>
      <p:ext uri="{BB962C8B-B14F-4D97-AF65-F5344CB8AC3E}">
        <p14:creationId xmlns:p14="http://schemas.microsoft.com/office/powerpoint/2010/main" val="1800068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Finally, to further improve the accuracy of boundary segmentation, Multi-Level Feature-Guided Aggregation Decoder is designed to achieve more accurate semantic decoding by fusing contour details, shape structure and global semantic information layer by layer, significantly enhancing the clarity and overall consistency of segmented boundaries.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B54DB-93C6-34B7-8614-B03A5DD046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5E3149-C630-D210-7465-E88000C5012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AE7A325-DE6F-4058-16D1-3F3F45787846}"/>
              </a:ext>
            </a:extLst>
          </p:cNvPr>
          <p:cNvSpPr>
            <a:spLocks noGrp="1"/>
          </p:cNvSpPr>
          <p:nvPr>
            <p:ph type="body" idx="3"/>
          </p:nvPr>
        </p:nvSpPr>
        <p:spPr/>
        <p:txBody>
          <a:bodyPr/>
          <a:lstStyle/>
          <a:p>
            <a:r>
              <a:rPr lang="en-US" altLang="zh-CN"/>
              <a:t>Finally, to further improve the accuracy of boundary segmentation, Multi-Level Feature-Guided Aggregation Decoder is designed to achieve more accurate semantic decoding by fusing contour details, shape structure and global semantic information layer by layer, significantly enhancing the clarity and overall consistency of segmented boundaries.</a:t>
            </a:r>
          </a:p>
        </p:txBody>
      </p:sp>
    </p:spTree>
    <p:extLst>
      <p:ext uri="{BB962C8B-B14F-4D97-AF65-F5344CB8AC3E}">
        <p14:creationId xmlns:p14="http://schemas.microsoft.com/office/powerpoint/2010/main" val="1358576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A62E1-CA16-926D-7B25-5D67353F1B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971770-5828-7344-C31C-2F911758203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A0C692D-8CC5-0AE6-30A0-0B11D5CE5997}"/>
              </a:ext>
            </a:extLst>
          </p:cNvPr>
          <p:cNvSpPr>
            <a:spLocks noGrp="1"/>
          </p:cNvSpPr>
          <p:nvPr>
            <p:ph type="body" idx="3"/>
          </p:nvPr>
        </p:nvSpPr>
        <p:spPr/>
        <p:txBody>
          <a:bodyPr/>
          <a:lstStyle/>
          <a:p>
            <a:r>
              <a:rPr lang="en-US" altLang="zh-CN">
                <a:latin typeface="Times New Roman" panose="02020603050405020304"/>
                <a:ea typeface="宋体" panose="02010600030101010101" pitchFamily="2" charset="-122"/>
                <a:sym typeface="+mn-ea"/>
              </a:rPr>
              <a:t>Moreover, a</a:t>
            </a:r>
            <a:r>
              <a:rPr lang="en-US">
                <a:latin typeface="Times New Roman" panose="02020603050405020304"/>
                <a:ea typeface="宋体" panose="02010600030101010101" pitchFamily="2" charset="-122"/>
                <a:sym typeface="+mn-ea"/>
              </a:rPr>
              <a:t>blation e</a:t>
            </a:r>
            <a:r>
              <a:rPr lang="en-US" altLang="zh-CN">
                <a:latin typeface="Times New Roman" panose="02020603050405020304"/>
                <a:ea typeface="宋体" panose="02010600030101010101" pitchFamily="2" charset="-122"/>
                <a:sym typeface="+mn-ea"/>
              </a:rPr>
              <a:t>xperiments</a:t>
            </a:r>
            <a:r>
              <a:rPr lang="en-US">
                <a:latin typeface="Times New Roman" panose="02020603050405020304"/>
                <a:ea typeface="宋体" panose="02010600030101010101" pitchFamily="2" charset="-122"/>
                <a:sym typeface="+mn-ea"/>
              </a:rPr>
              <a:t> across the TN3K, GlaS, Kvasir-SEG, and ISIC-2016 datasets confirm that the Adapter, MDHFF, and MFGAD modules enhance the performance of our method.</a:t>
            </a:r>
            <a:endParaRPr lang="en-US" altLang="zh-CN">
              <a:latin typeface="Times New Roman" panose="02020603050405020304"/>
              <a:ea typeface="宋体" panose="02010600030101010101" pitchFamily="2" charset="-122"/>
            </a:endParaRPr>
          </a:p>
          <a:p>
            <a:endParaRPr lang="zh-CN" altLang="en-US"/>
          </a:p>
        </p:txBody>
      </p:sp>
    </p:spTree>
    <p:extLst>
      <p:ext uri="{BB962C8B-B14F-4D97-AF65-F5344CB8AC3E}">
        <p14:creationId xmlns:p14="http://schemas.microsoft.com/office/powerpoint/2010/main" val="3129468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latin typeface="Times New Roman" panose="02020603050405020304"/>
                <a:ea typeface="宋体" panose="02010600030101010101" pitchFamily="2" charset="-122"/>
                <a:sym typeface="+mn-ea"/>
              </a:rPr>
              <a:t>Moreover, a</a:t>
            </a:r>
            <a:r>
              <a:rPr lang="en-US">
                <a:latin typeface="Times New Roman" panose="02020603050405020304"/>
                <a:ea typeface="宋体" panose="02010600030101010101" pitchFamily="2" charset="-122"/>
                <a:sym typeface="+mn-ea"/>
              </a:rPr>
              <a:t>blation e</a:t>
            </a:r>
            <a:r>
              <a:rPr lang="en-US" altLang="zh-CN">
                <a:latin typeface="Times New Roman" panose="02020603050405020304"/>
                <a:ea typeface="宋体" panose="02010600030101010101" pitchFamily="2" charset="-122"/>
                <a:sym typeface="+mn-ea"/>
              </a:rPr>
              <a:t>xperiments</a:t>
            </a:r>
            <a:r>
              <a:rPr lang="en-US">
                <a:latin typeface="Times New Roman" panose="02020603050405020304"/>
                <a:ea typeface="宋体" panose="02010600030101010101" pitchFamily="2" charset="-122"/>
                <a:sym typeface="+mn-ea"/>
              </a:rPr>
              <a:t> across the TN3K, GlaS, Kvasir-SEG, and ISIC-2016 datasets confirm that the Adapter, MDHFF, and MFGAD modules enhance the performance of our method.</a:t>
            </a:r>
            <a:endParaRPr lang="en-US" altLang="zh-CN">
              <a:latin typeface="Times New Roman" panose="02020603050405020304"/>
              <a:ea typeface="宋体" panose="02010600030101010101" pitchFamily="2" charset="-122"/>
            </a:endParaRPr>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latin typeface="Times New Roman" panose="02020603050405020304" charset="0"/>
                <a:cs typeface="Times New Roman" panose="02020603050405020304" charset="0"/>
                <a:sym typeface="+mn-ea"/>
              </a:rPr>
              <a:t>Thank you for watching!</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34440" y="2331720"/>
            <a:ext cx="9784080" cy="685800"/>
          </a:xfrm>
          <a:prstGeom prst="rect">
            <a:avLst/>
          </a:prstGeom>
          <a:noFill/>
        </p:spPr>
        <p:txBody>
          <a:bodyPr wrap="square">
            <a:normAutofit/>
          </a:bodyPr>
          <a:lstStyle/>
          <a:p>
            <a:pPr algn="ctr"/>
            <a:endParaRPr sz="2200" b="0" dirty="0">
              <a:solidFill>
                <a:srgbClr val="000000"/>
              </a:solidFill>
              <a:latin typeface="Times New Roman"/>
            </a:endParaRPr>
          </a:p>
        </p:txBody>
      </p:sp>
      <p:sp>
        <p:nvSpPr>
          <p:cNvPr id="4" name="标题 1">
            <a:extLst>
              <a:ext uri="{FF2B5EF4-FFF2-40B4-BE49-F238E27FC236}">
                <a16:creationId xmlns:a16="http://schemas.microsoft.com/office/drawing/2014/main" id="{492E8D68-6416-E12D-CF03-EB82849B0646}"/>
              </a:ext>
            </a:extLst>
          </p:cNvPr>
          <p:cNvSpPr>
            <a:spLocks noGrp="1"/>
          </p:cNvSpPr>
          <p:nvPr>
            <p:ph type="ctrTitle"/>
          </p:nvPr>
        </p:nvSpPr>
        <p:spPr>
          <a:xfrm>
            <a:off x="644046" y="2243328"/>
            <a:ext cx="11300460" cy="1848485"/>
          </a:xfrm>
        </p:spPr>
        <p:txBody>
          <a:bodyPr>
            <a:noAutofit/>
          </a:bodyPr>
          <a:lstStyle/>
          <a:p>
            <a:pPr algn="ctr"/>
            <a:r>
              <a:rPr lang="en-US" altLang="zh-CN" sz="4400" dirty="0">
                <a:latin typeface="Times New Roman" panose="02020603050405020304" charset="0"/>
                <a:cs typeface="Times New Roman" panose="02020603050405020304" charset="0"/>
              </a:rPr>
              <a:t>Adapter Scaling Trade-off and Timestep-Conditioned </a:t>
            </a:r>
            <a:r>
              <a:rPr lang="en-US" altLang="zh-CN" sz="4400" dirty="0" err="1">
                <a:latin typeface="Times New Roman" panose="02020603050405020304" charset="0"/>
                <a:cs typeface="Times New Roman" panose="02020603050405020304" charset="0"/>
              </a:rPr>
              <a:t>Scheduling in</a:t>
            </a:r>
            <a:r>
              <a:rPr lang="en-US" altLang="zh-CN" sz="4400" dirty="0">
                <a:latin typeface="Times New Roman" panose="02020603050405020304" charset="0"/>
                <a:cs typeface="Times New Roman" panose="02020603050405020304" charset="0"/>
              </a:rPr>
              <a:t> Multi-view Diffusion Texture Generation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ethod_clean5.png"/>
          <p:cNvPicPr>
            <a:picLocks noChangeAspect="1"/>
          </p:cNvPicPr>
          <p:nvPr/>
        </p:nvPicPr>
        <p:blipFill>
          <a:blip r:embed="rId3"/>
          <a:stretch>
            <a:fillRect/>
          </a:stretch>
        </p:blipFill>
        <p:spPr>
          <a:xfrm>
            <a:off x="1660953" y="658368"/>
            <a:ext cx="8839613" cy="5321808"/>
          </a:xfrm>
          <a:prstGeom prst="rect">
            <a:avLst/>
          </a:prstGeom>
        </p:spPr>
      </p:pic>
      <p:sp>
        <p:nvSpPr>
          <p:cNvPr id="8" name="标题 1">
            <a:extLst>
              <a:ext uri="{FF2B5EF4-FFF2-40B4-BE49-F238E27FC236}">
                <a16:creationId xmlns:a16="http://schemas.microsoft.com/office/drawing/2014/main" id="{8C2466F5-54A6-7FF7-90F9-647D6874E1F3}"/>
              </a:ext>
            </a:extLst>
          </p:cNvPr>
          <p:cNvSpPr>
            <a:spLocks noGrp="1"/>
          </p:cNvSpPr>
          <p:nvPr/>
        </p:nvSpPr>
        <p:spPr>
          <a:xfrm>
            <a:off x="0" y="0"/>
            <a:ext cx="11268710" cy="69977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200" dirty="0">
                <a:latin typeface="Times New Roman" panose="02020603050405020304" charset="0"/>
                <a:cs typeface="Times New Roman" panose="02020603050405020304" charset="0"/>
              </a:rPr>
              <a:t>Method overview: Timestep-Conditioned Adapter Scaling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pPr algn="l"/>
            <a:r>
              <a:rPr sz="3200" dirty="0">
                <a:latin typeface="Times New Roman" panose="02020603050405020304" charset="0"/>
                <a:ea typeface="+mj-ea"/>
                <a:cs typeface="Times New Roman" panose="02020603050405020304" charset="0"/>
              </a:rPr>
              <a:t>Uniform adapter scaling: structural gain increases with scale</a:t>
            </a:r>
          </a:p>
        </p:txBody>
      </p:sp>
      <p:pic>
        <p:nvPicPr>
          <p:cNvPr id="4" name="Picture 3" descr="scale.png"/>
          <p:cNvPicPr>
            <a:picLocks noChangeAspect="1"/>
          </p:cNvPicPr>
          <p:nvPr/>
        </p:nvPicPr>
        <p:blipFill>
          <a:blip r:embed="rId3"/>
          <a:stretch>
            <a:fillRect/>
          </a:stretch>
        </p:blipFill>
        <p:spPr>
          <a:xfrm>
            <a:off x="6103620" y="1955865"/>
            <a:ext cx="5897880" cy="3149467"/>
          </a:xfrm>
          <a:prstGeom prst="rect">
            <a:avLst/>
          </a:prstGeom>
        </p:spPr>
      </p:pic>
      <p:pic>
        <p:nvPicPr>
          <p:cNvPr id="7" name="图片 6">
            <a:extLst>
              <a:ext uri="{FF2B5EF4-FFF2-40B4-BE49-F238E27FC236}">
                <a16:creationId xmlns:a16="http://schemas.microsoft.com/office/drawing/2014/main" id="{77418CDD-AEFB-4C4E-D0A5-29EE9287AF8D}"/>
              </a:ext>
            </a:extLst>
          </p:cNvPr>
          <p:cNvPicPr>
            <a:picLocks noChangeAspect="1"/>
          </p:cNvPicPr>
          <p:nvPr/>
        </p:nvPicPr>
        <p:blipFill>
          <a:blip r:embed="rId4"/>
          <a:stretch>
            <a:fillRect/>
          </a:stretch>
        </p:blipFill>
        <p:spPr>
          <a:xfrm>
            <a:off x="57149" y="1385709"/>
            <a:ext cx="6031231" cy="39622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9368B-4838-068D-9246-28931474AAC9}"/>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r>
              <a:rPr sz="3200" dirty="0">
                <a:latin typeface="Times New Roman" panose="02020603050405020304" charset="0"/>
                <a:ea typeface="+mj-ea"/>
                <a:cs typeface="Times New Roman" panose="02020603050405020304" charset="0"/>
              </a:rPr>
              <a:t>Per-object behavior across 13 adapter scales</a:t>
            </a:r>
          </a:p>
        </p:txBody>
      </p:sp>
      <p:pic>
        <p:nvPicPr>
          <p:cNvPr id="3" name="Picture 2" descr="heatmap.png"/>
          <p:cNvPicPr>
            <a:picLocks noChangeAspect="1"/>
          </p:cNvPicPr>
          <p:nvPr/>
        </p:nvPicPr>
        <p:blipFill>
          <a:blip r:embed="rId3"/>
          <a:stretch>
            <a:fillRect/>
          </a:stretch>
        </p:blipFill>
        <p:spPr>
          <a:xfrm>
            <a:off x="3187199" y="658368"/>
            <a:ext cx="5924281" cy="5468112"/>
          </a:xfrm>
          <a:prstGeom prst="rect">
            <a:avLst/>
          </a:prstGeom>
        </p:spPr>
      </p:pic>
    </p:spTree>
    <p:extLst>
      <p:ext uri="{BB962C8B-B14F-4D97-AF65-F5344CB8AC3E}">
        <p14:creationId xmlns:p14="http://schemas.microsoft.com/office/powerpoint/2010/main" val="1117428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A7385-7838-8B41-2A45-D22683DDE8BB}"/>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pPr algn="l"/>
            <a:r>
              <a:rPr sz="3200" dirty="0">
                <a:latin typeface="Times New Roman" panose="02020603050405020304" charset="0"/>
                <a:ea typeface="+mj-ea"/>
                <a:cs typeface="Times New Roman" panose="02020603050405020304" charset="0"/>
              </a:rPr>
              <a:t>Texture audit: high scale causes texture flattening</a:t>
            </a:r>
          </a:p>
        </p:txBody>
      </p:sp>
      <p:pic>
        <p:nvPicPr>
          <p:cNvPr id="20" name="图片 19">
            <a:extLst>
              <a:ext uri="{FF2B5EF4-FFF2-40B4-BE49-F238E27FC236}">
                <a16:creationId xmlns:a16="http://schemas.microsoft.com/office/drawing/2014/main" id="{9788AA4B-8EC9-A837-893A-34E1999DC640}"/>
              </a:ext>
            </a:extLst>
          </p:cNvPr>
          <p:cNvPicPr>
            <a:picLocks noChangeAspect="1"/>
          </p:cNvPicPr>
          <p:nvPr/>
        </p:nvPicPr>
        <p:blipFill>
          <a:blip r:embed="rId3"/>
          <a:stretch>
            <a:fillRect/>
          </a:stretch>
        </p:blipFill>
        <p:spPr>
          <a:xfrm>
            <a:off x="1082136" y="682671"/>
            <a:ext cx="9141364" cy="5993719"/>
          </a:xfrm>
          <a:prstGeom prst="rect">
            <a:avLst/>
          </a:prstGeom>
        </p:spPr>
      </p:pic>
    </p:spTree>
    <p:extLst>
      <p:ext uri="{BB962C8B-B14F-4D97-AF65-F5344CB8AC3E}">
        <p14:creationId xmlns:p14="http://schemas.microsoft.com/office/powerpoint/2010/main" val="3725482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D1091-1EF4-6937-932F-23E5A5BC0141}"/>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r>
              <a:rPr sz="3200" dirty="0">
                <a:latin typeface="Times New Roman" panose="02020603050405020304" charset="0"/>
                <a:ea typeface="+mj-ea"/>
                <a:cs typeface="Times New Roman" panose="02020603050405020304" charset="0"/>
              </a:rPr>
              <a:t>Texture flattening diagnostics</a:t>
            </a:r>
          </a:p>
        </p:txBody>
      </p:sp>
      <p:sp>
        <p:nvSpPr>
          <p:cNvPr id="8" name="文本框 7">
            <a:extLst>
              <a:ext uri="{FF2B5EF4-FFF2-40B4-BE49-F238E27FC236}">
                <a16:creationId xmlns:a16="http://schemas.microsoft.com/office/drawing/2014/main" id="{CC3916F2-486E-8733-7031-E4CDC5AD64FC}"/>
              </a:ext>
            </a:extLst>
          </p:cNvPr>
          <p:cNvSpPr txBox="1"/>
          <p:nvPr/>
        </p:nvSpPr>
        <p:spPr>
          <a:xfrm>
            <a:off x="2319867" y="5863789"/>
            <a:ext cx="7552266" cy="646331"/>
          </a:xfrm>
          <a:prstGeom prst="rect">
            <a:avLst/>
          </a:prstGeom>
          <a:noFill/>
        </p:spPr>
        <p:txBody>
          <a:bodyPr wrap="square">
            <a:spAutoFit/>
          </a:bodyPr>
          <a:lstStyle/>
          <a:p>
            <a:pPr algn="l" defTabSz="266700"/>
            <a:r>
              <a:rPr lang="en-US" altLang="zh-CN" sz="1800" dirty="0">
                <a:latin typeface="Times New Roman" panose="02020603050405020304"/>
                <a:ea typeface="宋体" panose="02010600030101010101" pitchFamily="2" charset="-122"/>
              </a:rPr>
              <a:t>The key evidence is not a single proxy metric: it is the agreement among RGB Std, Gradient Magnitude and local visual audits.</a:t>
            </a:r>
          </a:p>
        </p:txBody>
      </p:sp>
      <p:pic>
        <p:nvPicPr>
          <p:cNvPr id="10" name="图片 9">
            <a:extLst>
              <a:ext uri="{FF2B5EF4-FFF2-40B4-BE49-F238E27FC236}">
                <a16:creationId xmlns:a16="http://schemas.microsoft.com/office/drawing/2014/main" id="{40D77984-D156-7838-B742-8C0EAAE909A8}"/>
              </a:ext>
            </a:extLst>
          </p:cNvPr>
          <p:cNvPicPr>
            <a:picLocks noChangeAspect="1"/>
          </p:cNvPicPr>
          <p:nvPr/>
        </p:nvPicPr>
        <p:blipFill>
          <a:blip r:embed="rId3"/>
          <a:stretch>
            <a:fillRect/>
          </a:stretch>
        </p:blipFill>
        <p:spPr>
          <a:xfrm>
            <a:off x="1564864" y="643134"/>
            <a:ext cx="8739070" cy="5062153"/>
          </a:xfrm>
          <a:prstGeom prst="rect">
            <a:avLst/>
          </a:prstGeom>
        </p:spPr>
      </p:pic>
    </p:spTree>
    <p:extLst>
      <p:ext uri="{BB962C8B-B14F-4D97-AF65-F5344CB8AC3E}">
        <p14:creationId xmlns:p14="http://schemas.microsoft.com/office/powerpoint/2010/main" val="3237467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CE076-A984-81AD-5DF1-C94A4CA466D7}"/>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pPr algn="l"/>
            <a:r>
              <a:rPr sz="3200" dirty="0">
                <a:latin typeface="Times New Roman" panose="02020603050405020304" charset="0"/>
                <a:ea typeface="+mj-ea"/>
                <a:cs typeface="Times New Roman" panose="02020603050405020304" charset="0"/>
              </a:rPr>
              <a:t>Shape–texture trade-off among 17 scheduling variants</a:t>
            </a:r>
          </a:p>
        </p:txBody>
      </p:sp>
      <p:pic>
        <p:nvPicPr>
          <p:cNvPr id="3" name="Picture 2" descr="pareto.png"/>
          <p:cNvPicPr>
            <a:picLocks noChangeAspect="1"/>
          </p:cNvPicPr>
          <p:nvPr/>
        </p:nvPicPr>
        <p:blipFill>
          <a:blip r:embed="rId3"/>
          <a:srcRect t="4846" r="218"/>
          <a:stretch>
            <a:fillRect/>
          </a:stretch>
        </p:blipFill>
        <p:spPr>
          <a:xfrm>
            <a:off x="1643733" y="932895"/>
            <a:ext cx="8211467" cy="5605267"/>
          </a:xfrm>
          <a:prstGeom prst="rect">
            <a:avLst/>
          </a:prstGeom>
        </p:spPr>
      </p:pic>
      <p:sp>
        <p:nvSpPr>
          <p:cNvPr id="5" name="TextBox 4"/>
          <p:cNvSpPr txBox="1"/>
          <p:nvPr/>
        </p:nvSpPr>
        <p:spPr>
          <a:xfrm>
            <a:off x="3366347" y="5916507"/>
            <a:ext cx="4892040" cy="685800"/>
          </a:xfrm>
          <a:prstGeom prst="rect">
            <a:avLst/>
          </a:prstGeom>
          <a:noFill/>
        </p:spPr>
        <p:txBody>
          <a:bodyPr wrap="square">
            <a:normAutofit/>
          </a:bodyPr>
          <a:lstStyle/>
          <a:p>
            <a:pPr algn="ctr"/>
            <a:endParaRPr sz="1250" b="0" dirty="0">
              <a:solidFill>
                <a:srgbClr val="5F5F5F"/>
              </a:solidFill>
              <a:latin typeface="Times New Roman"/>
            </a:endParaRPr>
          </a:p>
        </p:txBody>
      </p:sp>
    </p:spTree>
    <p:extLst>
      <p:ext uri="{BB962C8B-B14F-4D97-AF65-F5344CB8AC3E}">
        <p14:creationId xmlns:p14="http://schemas.microsoft.com/office/powerpoint/2010/main" val="4162929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6A206-0DC0-C7D3-B316-D764ABC9963E}"/>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pPr algn="l"/>
            <a:r>
              <a:rPr sz="3200" dirty="0">
                <a:latin typeface="Times New Roman" panose="02020603050405020304" charset="0"/>
                <a:ea typeface="+mj-ea"/>
                <a:cs typeface="Times New Roman" panose="02020603050405020304" charset="0"/>
              </a:rPr>
              <a:t>C3 / TCAS qualitative comparison</a:t>
            </a:r>
          </a:p>
        </p:txBody>
      </p:sp>
      <p:pic>
        <p:nvPicPr>
          <p:cNvPr id="3" name="Picture 2" descr="qual_c3.png"/>
          <p:cNvPicPr>
            <a:picLocks noChangeAspect="1"/>
          </p:cNvPicPr>
          <p:nvPr/>
        </p:nvPicPr>
        <p:blipFill>
          <a:blip r:embed="rId3"/>
          <a:stretch>
            <a:fillRect/>
          </a:stretch>
        </p:blipFill>
        <p:spPr>
          <a:xfrm>
            <a:off x="3236819" y="594360"/>
            <a:ext cx="5596440" cy="5440680"/>
          </a:xfrm>
          <a:prstGeom prst="rect">
            <a:avLst/>
          </a:prstGeom>
        </p:spPr>
      </p:pic>
      <p:sp>
        <p:nvSpPr>
          <p:cNvPr id="4" name="TextBox 3"/>
          <p:cNvSpPr txBox="1"/>
          <p:nvPr/>
        </p:nvSpPr>
        <p:spPr>
          <a:xfrm>
            <a:off x="594360" y="6263640"/>
            <a:ext cx="10972800" cy="320040"/>
          </a:xfrm>
          <a:prstGeom prst="rect">
            <a:avLst/>
          </a:prstGeom>
          <a:noFill/>
        </p:spPr>
        <p:txBody>
          <a:bodyPr wrap="square">
            <a:normAutofit/>
          </a:bodyPr>
          <a:lstStyle/>
          <a:p>
            <a:pPr algn="ctr"/>
            <a:endParaRPr sz="1000" b="0" dirty="0">
              <a:solidFill>
                <a:srgbClr val="5F5F5F"/>
              </a:solidFill>
              <a:latin typeface="Times New Roman"/>
            </a:endParaRPr>
          </a:p>
        </p:txBody>
      </p:sp>
      <p:sp>
        <p:nvSpPr>
          <p:cNvPr id="6" name="文本框 5">
            <a:extLst>
              <a:ext uri="{FF2B5EF4-FFF2-40B4-BE49-F238E27FC236}">
                <a16:creationId xmlns:a16="http://schemas.microsoft.com/office/drawing/2014/main" id="{A8D399D0-1838-8B5F-32F7-F82548F233D3}"/>
              </a:ext>
            </a:extLst>
          </p:cNvPr>
          <p:cNvSpPr txBox="1"/>
          <p:nvPr/>
        </p:nvSpPr>
        <p:spPr>
          <a:xfrm>
            <a:off x="2987039" y="6211669"/>
            <a:ext cx="6096000" cy="646331"/>
          </a:xfrm>
          <a:prstGeom prst="rect">
            <a:avLst/>
          </a:prstGeom>
          <a:noFill/>
        </p:spPr>
        <p:txBody>
          <a:bodyPr wrap="square">
            <a:spAutoFit/>
          </a:bodyPr>
          <a:lstStyle/>
          <a:p>
            <a:pPr algn="l" defTabSz="266700"/>
            <a:r>
              <a:rPr lang="en-US" altLang="zh-CN" sz="1800" dirty="0">
                <a:latin typeface="Times New Roman" panose="02020603050405020304"/>
                <a:ea typeface="宋体" panose="02010600030101010101" pitchFamily="2" charset="-122"/>
              </a:rPr>
              <a:t>C3 keeps stronger geometry than s=1.25 and more local texture variation than s=2.50.</a:t>
            </a:r>
          </a:p>
        </p:txBody>
      </p:sp>
    </p:spTree>
    <p:extLst>
      <p:ext uri="{BB962C8B-B14F-4D97-AF65-F5344CB8AC3E}">
        <p14:creationId xmlns:p14="http://schemas.microsoft.com/office/powerpoint/2010/main" val="3362642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r>
              <a:rPr sz="3200" dirty="0">
                <a:latin typeface="Times New Roman" panose="02020603050405020304" charset="0"/>
                <a:ea typeface="+mj-ea"/>
                <a:cs typeface="Times New Roman" panose="02020603050405020304" charset="0"/>
              </a:rPr>
              <a:t>Why generic guidance-style schedules are insufficient</a:t>
            </a:r>
          </a:p>
        </p:txBody>
      </p:sp>
      <p:sp>
        <p:nvSpPr>
          <p:cNvPr id="4" name="TextBox 3"/>
          <p:cNvSpPr txBox="1"/>
          <p:nvPr/>
        </p:nvSpPr>
        <p:spPr>
          <a:xfrm>
            <a:off x="914400" y="5349240"/>
            <a:ext cx="10287000" cy="438912"/>
          </a:xfrm>
          <a:prstGeom prst="rect">
            <a:avLst/>
          </a:prstGeom>
          <a:noFill/>
        </p:spPr>
        <p:txBody>
          <a:bodyPr wrap="square">
            <a:normAutofit/>
          </a:bodyPr>
          <a:lstStyle/>
          <a:p>
            <a:pPr algn="ctr"/>
            <a:endParaRPr sz="1300" b="0" dirty="0">
              <a:solidFill>
                <a:srgbClr val="5F5F5F"/>
              </a:solidFill>
              <a:latin typeface="Times New Roman"/>
            </a:endParaRPr>
          </a:p>
        </p:txBody>
      </p:sp>
      <p:sp>
        <p:nvSpPr>
          <p:cNvPr id="7" name="文本框 6">
            <a:extLst>
              <a:ext uri="{FF2B5EF4-FFF2-40B4-BE49-F238E27FC236}">
                <a16:creationId xmlns:a16="http://schemas.microsoft.com/office/drawing/2014/main" id="{6EE52242-87B3-3665-2C48-E18503968061}"/>
              </a:ext>
            </a:extLst>
          </p:cNvPr>
          <p:cNvSpPr txBox="1"/>
          <p:nvPr/>
        </p:nvSpPr>
        <p:spPr>
          <a:xfrm>
            <a:off x="2851150" y="5080685"/>
            <a:ext cx="6096000" cy="646331"/>
          </a:xfrm>
          <a:prstGeom prst="rect">
            <a:avLst/>
          </a:prstGeom>
          <a:noFill/>
        </p:spPr>
        <p:txBody>
          <a:bodyPr wrap="square">
            <a:spAutoFit/>
          </a:bodyPr>
          <a:lstStyle/>
          <a:p>
            <a:pPr algn="l" defTabSz="266700"/>
            <a:r>
              <a:rPr lang="en-US" altLang="zh-CN" sz="1800" dirty="0">
                <a:latin typeface="Times New Roman" panose="02020603050405020304"/>
                <a:ea typeface="宋体" panose="02010600030101010101" pitchFamily="2" charset="-122"/>
              </a:rPr>
              <a:t>C3 is not a generic monotonic decay or warm-up rule: the high scale is concentrated in the middle denoising stage.</a:t>
            </a:r>
          </a:p>
        </p:txBody>
      </p:sp>
      <p:pic>
        <p:nvPicPr>
          <p:cNvPr id="10" name="图片 9">
            <a:extLst>
              <a:ext uri="{FF2B5EF4-FFF2-40B4-BE49-F238E27FC236}">
                <a16:creationId xmlns:a16="http://schemas.microsoft.com/office/drawing/2014/main" id="{DE815237-5437-B195-242E-F8BC77751D7B}"/>
              </a:ext>
            </a:extLst>
          </p:cNvPr>
          <p:cNvPicPr>
            <a:picLocks noChangeAspect="1"/>
          </p:cNvPicPr>
          <p:nvPr/>
        </p:nvPicPr>
        <p:blipFill>
          <a:blip r:embed="rId3"/>
          <a:stretch>
            <a:fillRect/>
          </a:stretch>
        </p:blipFill>
        <p:spPr>
          <a:xfrm>
            <a:off x="223520" y="2377331"/>
            <a:ext cx="11709400" cy="21033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BBA55-AFEF-4532-FA06-B217B14EF6AF}"/>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r>
              <a:rPr sz="3200" dirty="0">
                <a:latin typeface="Times New Roman" panose="02020603050405020304" charset="0"/>
                <a:ea typeface="+mj-ea"/>
                <a:cs typeface="Times New Roman" panose="02020603050405020304" charset="0"/>
              </a:rPr>
              <a:t>Large-scale validation on 300 objects</a:t>
            </a:r>
          </a:p>
        </p:txBody>
      </p:sp>
      <p:sp>
        <p:nvSpPr>
          <p:cNvPr id="7" name="TextBox 6"/>
          <p:cNvSpPr txBox="1"/>
          <p:nvPr/>
        </p:nvSpPr>
        <p:spPr>
          <a:xfrm>
            <a:off x="518160" y="5486400"/>
            <a:ext cx="10972800" cy="320040"/>
          </a:xfrm>
          <a:prstGeom prst="rect">
            <a:avLst/>
          </a:prstGeom>
          <a:noFill/>
        </p:spPr>
        <p:txBody>
          <a:bodyPr wrap="square">
            <a:normAutofit/>
          </a:bodyPr>
          <a:lstStyle/>
          <a:p>
            <a:pPr algn="ctr"/>
            <a:endParaRPr sz="1000" b="0" dirty="0">
              <a:solidFill>
                <a:srgbClr val="5F5F5F"/>
              </a:solidFill>
              <a:latin typeface="Times New Roman"/>
            </a:endParaRPr>
          </a:p>
        </p:txBody>
      </p:sp>
      <p:sp>
        <p:nvSpPr>
          <p:cNvPr id="11" name="文本框 10">
            <a:extLst>
              <a:ext uri="{FF2B5EF4-FFF2-40B4-BE49-F238E27FC236}">
                <a16:creationId xmlns:a16="http://schemas.microsoft.com/office/drawing/2014/main" id="{A0933141-27ED-1549-233E-0EC67869F6FA}"/>
              </a:ext>
            </a:extLst>
          </p:cNvPr>
          <p:cNvSpPr txBox="1"/>
          <p:nvPr/>
        </p:nvSpPr>
        <p:spPr>
          <a:xfrm>
            <a:off x="2837815" y="5968999"/>
            <a:ext cx="6096000" cy="646331"/>
          </a:xfrm>
          <a:prstGeom prst="rect">
            <a:avLst/>
          </a:prstGeom>
          <a:noFill/>
        </p:spPr>
        <p:txBody>
          <a:bodyPr wrap="square">
            <a:spAutoFit/>
          </a:bodyPr>
          <a:lstStyle/>
          <a:p>
            <a:pPr algn="l" defTabSz="266700"/>
            <a:r>
              <a:rPr lang="en-US" altLang="zh-CN" sz="1800" dirty="0">
                <a:latin typeface="Times New Roman" panose="02020603050405020304"/>
                <a:ea typeface="宋体" panose="02010600030101010101" pitchFamily="2" charset="-122"/>
              </a:rPr>
              <a:t>C3 is selected on the 24-object probe set and transferred unchanged to the 300-object evaluation pool, with no further search on the evaluation objects.</a:t>
            </a:r>
          </a:p>
        </p:txBody>
      </p:sp>
      <p:pic>
        <p:nvPicPr>
          <p:cNvPr id="12" name="图片 11">
            <a:extLst>
              <a:ext uri="{FF2B5EF4-FFF2-40B4-BE49-F238E27FC236}">
                <a16:creationId xmlns:a16="http://schemas.microsoft.com/office/drawing/2014/main" id="{70F38854-30C2-709E-ABD8-C9131B24F8DF}"/>
              </a:ext>
            </a:extLst>
          </p:cNvPr>
          <p:cNvPicPr>
            <a:picLocks noChangeAspect="1"/>
          </p:cNvPicPr>
          <p:nvPr/>
        </p:nvPicPr>
        <p:blipFill>
          <a:blip r:embed="rId3"/>
          <a:stretch>
            <a:fillRect/>
          </a:stretch>
        </p:blipFill>
        <p:spPr>
          <a:xfrm>
            <a:off x="97790" y="3220846"/>
            <a:ext cx="11576050" cy="2779272"/>
          </a:xfrm>
          <a:prstGeom prst="rect">
            <a:avLst/>
          </a:prstGeom>
        </p:spPr>
      </p:pic>
      <p:pic>
        <p:nvPicPr>
          <p:cNvPr id="13" name="图片 12">
            <a:extLst>
              <a:ext uri="{FF2B5EF4-FFF2-40B4-BE49-F238E27FC236}">
                <a16:creationId xmlns:a16="http://schemas.microsoft.com/office/drawing/2014/main" id="{12764A48-3241-A263-AA47-4213A533885A}"/>
              </a:ext>
            </a:extLst>
          </p:cNvPr>
          <p:cNvPicPr>
            <a:picLocks noChangeAspect="1"/>
          </p:cNvPicPr>
          <p:nvPr/>
        </p:nvPicPr>
        <p:blipFill>
          <a:blip r:embed="rId4"/>
          <a:srcRect t="833"/>
          <a:stretch>
            <a:fillRect/>
          </a:stretch>
        </p:blipFill>
        <p:spPr>
          <a:xfrm>
            <a:off x="438150" y="725270"/>
            <a:ext cx="11576050" cy="2495576"/>
          </a:xfrm>
          <a:prstGeom prst="rect">
            <a:avLst/>
          </a:prstGeom>
        </p:spPr>
      </p:pic>
    </p:spTree>
    <p:extLst>
      <p:ext uri="{BB962C8B-B14F-4D97-AF65-F5344CB8AC3E}">
        <p14:creationId xmlns:p14="http://schemas.microsoft.com/office/powerpoint/2010/main" val="2615944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81B94-9C90-BF18-CAB4-2A4A075B1D67}"/>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pPr algn="l"/>
            <a:r>
              <a:rPr sz="3200" dirty="0">
                <a:latin typeface="Times New Roman" panose="02020603050405020304" charset="0"/>
                <a:ea typeface="+mj-ea"/>
                <a:cs typeface="Times New Roman" panose="02020603050405020304" charset="0"/>
              </a:rPr>
              <a:t>Perceptual validation and user preference</a:t>
            </a:r>
          </a:p>
        </p:txBody>
      </p:sp>
      <p:sp>
        <p:nvSpPr>
          <p:cNvPr id="6" name="TextBox 5"/>
          <p:cNvSpPr txBox="1"/>
          <p:nvPr/>
        </p:nvSpPr>
        <p:spPr>
          <a:xfrm>
            <a:off x="594360" y="6263640"/>
            <a:ext cx="10972800" cy="320040"/>
          </a:xfrm>
          <a:prstGeom prst="rect">
            <a:avLst/>
          </a:prstGeom>
          <a:noFill/>
        </p:spPr>
        <p:txBody>
          <a:bodyPr wrap="square">
            <a:normAutofit/>
          </a:bodyPr>
          <a:lstStyle/>
          <a:p>
            <a:pPr algn="ctr"/>
            <a:endParaRPr sz="1000" b="0" dirty="0">
              <a:solidFill>
                <a:srgbClr val="5F5F5F"/>
              </a:solidFill>
              <a:latin typeface="Times New Roman"/>
            </a:endParaRPr>
          </a:p>
        </p:txBody>
      </p:sp>
      <p:pic>
        <p:nvPicPr>
          <p:cNvPr id="8" name="图片 7">
            <a:extLst>
              <a:ext uri="{FF2B5EF4-FFF2-40B4-BE49-F238E27FC236}">
                <a16:creationId xmlns:a16="http://schemas.microsoft.com/office/drawing/2014/main" id="{3C70EEE9-10CF-07AC-6372-F177888E2846}"/>
              </a:ext>
            </a:extLst>
          </p:cNvPr>
          <p:cNvPicPr>
            <a:picLocks noChangeAspect="1"/>
          </p:cNvPicPr>
          <p:nvPr/>
        </p:nvPicPr>
        <p:blipFill>
          <a:blip r:embed="rId3"/>
          <a:stretch>
            <a:fillRect/>
          </a:stretch>
        </p:blipFill>
        <p:spPr>
          <a:xfrm>
            <a:off x="1206500" y="4486812"/>
            <a:ext cx="9239250" cy="1637526"/>
          </a:xfrm>
          <a:prstGeom prst="rect">
            <a:avLst/>
          </a:prstGeom>
        </p:spPr>
      </p:pic>
      <p:pic>
        <p:nvPicPr>
          <p:cNvPr id="9" name="图片 8">
            <a:extLst>
              <a:ext uri="{FF2B5EF4-FFF2-40B4-BE49-F238E27FC236}">
                <a16:creationId xmlns:a16="http://schemas.microsoft.com/office/drawing/2014/main" id="{F56E81C9-C802-F711-F5AB-98FD4363581A}"/>
              </a:ext>
            </a:extLst>
          </p:cNvPr>
          <p:cNvPicPr>
            <a:picLocks noChangeAspect="1"/>
          </p:cNvPicPr>
          <p:nvPr/>
        </p:nvPicPr>
        <p:blipFill>
          <a:blip r:embed="rId4"/>
          <a:stretch>
            <a:fillRect/>
          </a:stretch>
        </p:blipFill>
        <p:spPr>
          <a:xfrm>
            <a:off x="1206500" y="784285"/>
            <a:ext cx="9239250" cy="1746029"/>
          </a:xfrm>
          <a:prstGeom prst="rect">
            <a:avLst/>
          </a:prstGeom>
        </p:spPr>
      </p:pic>
      <p:pic>
        <p:nvPicPr>
          <p:cNvPr id="10" name="图片 9">
            <a:extLst>
              <a:ext uri="{FF2B5EF4-FFF2-40B4-BE49-F238E27FC236}">
                <a16:creationId xmlns:a16="http://schemas.microsoft.com/office/drawing/2014/main" id="{8872624A-C5E8-68C6-4BFF-9136BED87DC0}"/>
              </a:ext>
            </a:extLst>
          </p:cNvPr>
          <p:cNvPicPr>
            <a:picLocks noChangeAspect="1"/>
          </p:cNvPicPr>
          <p:nvPr/>
        </p:nvPicPr>
        <p:blipFill>
          <a:blip r:embed="rId5"/>
          <a:srcRect r="481"/>
          <a:stretch>
            <a:fillRect/>
          </a:stretch>
        </p:blipFill>
        <p:spPr>
          <a:xfrm>
            <a:off x="1206500" y="2630309"/>
            <a:ext cx="9194800" cy="1766668"/>
          </a:xfrm>
          <a:prstGeom prst="rect">
            <a:avLst/>
          </a:prstGeom>
        </p:spPr>
      </p:pic>
      <p:sp>
        <p:nvSpPr>
          <p:cNvPr id="12" name="文本框 11">
            <a:extLst>
              <a:ext uri="{FF2B5EF4-FFF2-40B4-BE49-F238E27FC236}">
                <a16:creationId xmlns:a16="http://schemas.microsoft.com/office/drawing/2014/main" id="{BC9C2E73-8B11-7B5F-0E57-6AB89C11CC55}"/>
              </a:ext>
            </a:extLst>
          </p:cNvPr>
          <p:cNvSpPr txBox="1"/>
          <p:nvPr/>
        </p:nvSpPr>
        <p:spPr>
          <a:xfrm>
            <a:off x="2778124" y="6073715"/>
            <a:ext cx="6302375" cy="646331"/>
          </a:xfrm>
          <a:prstGeom prst="rect">
            <a:avLst/>
          </a:prstGeom>
          <a:noFill/>
        </p:spPr>
        <p:txBody>
          <a:bodyPr wrap="square">
            <a:spAutoFit/>
          </a:bodyPr>
          <a:lstStyle/>
          <a:p>
            <a:pPr algn="l" defTabSz="266700"/>
            <a:r>
              <a:rPr lang="en-US" altLang="zh-CN" sz="1800" dirty="0">
                <a:latin typeface="Times New Roman" panose="02020603050405020304"/>
                <a:ea typeface="宋体" panose="02010600030101010101" pitchFamily="2" charset="-122"/>
              </a:rPr>
              <a:t>C3 retains more texture variation than s=2.50 and is preferred overall in the blinded study.</a:t>
            </a:r>
          </a:p>
        </p:txBody>
      </p:sp>
    </p:spTree>
    <p:extLst>
      <p:ext uri="{BB962C8B-B14F-4D97-AF65-F5344CB8AC3E}">
        <p14:creationId xmlns:p14="http://schemas.microsoft.com/office/powerpoint/2010/main" val="3795574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r>
              <a:rPr sz="3200" dirty="0">
                <a:latin typeface="Times New Roman" panose="02020603050405020304" charset="0"/>
                <a:ea typeface="+mj-ea"/>
                <a:cs typeface="Times New Roman" panose="02020603050405020304" charset="0"/>
              </a:rPr>
              <a:t>FAC: a controlled re-examination of learned adaptive correction</a:t>
            </a:r>
          </a:p>
        </p:txBody>
      </p:sp>
      <p:pic>
        <p:nvPicPr>
          <p:cNvPr id="6" name="图片 5">
            <a:extLst>
              <a:ext uri="{FF2B5EF4-FFF2-40B4-BE49-F238E27FC236}">
                <a16:creationId xmlns:a16="http://schemas.microsoft.com/office/drawing/2014/main" id="{3AB309E7-2772-CCD5-53C5-22DCD563F59C}"/>
              </a:ext>
            </a:extLst>
          </p:cNvPr>
          <p:cNvPicPr>
            <a:picLocks noChangeAspect="1"/>
          </p:cNvPicPr>
          <p:nvPr/>
        </p:nvPicPr>
        <p:blipFill>
          <a:blip r:embed="rId3"/>
          <a:stretch>
            <a:fillRect/>
          </a:stretch>
        </p:blipFill>
        <p:spPr>
          <a:xfrm>
            <a:off x="0" y="1837225"/>
            <a:ext cx="12192000" cy="3183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54050" y="3001645"/>
            <a:ext cx="10665460" cy="854710"/>
          </a:xfrm>
        </p:spPr>
        <p:txBody>
          <a:bodyPr>
            <a:noAutofit/>
          </a:bodyPr>
          <a:lstStyle/>
          <a:p>
            <a:pPr algn="ctr"/>
            <a:r>
              <a:rPr lang="en-US" altLang="zh-CN" sz="4400">
                <a:latin typeface="Times New Roman" panose="02020603050405020304" charset="0"/>
                <a:cs typeface="Times New Roman" panose="02020603050405020304" charset="0"/>
              </a:rPr>
              <a:t>Thank you for watching!</a:t>
            </a: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752</Words>
  <Application>Microsoft Office PowerPoint</Application>
  <PresentationFormat>宽屏</PresentationFormat>
  <Paragraphs>31</Paragraphs>
  <Slides>13</Slides>
  <Notes>13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13</vt:i4>
      </vt:variant>
    </vt:vector>
  </HeadingPairs>
  <TitlesOfParts>
    <vt:vector size="17" baseType="lpstr">
      <vt:lpstr>Arial</vt:lpstr>
      <vt:lpstr>Calibri</vt:lpstr>
      <vt:lpstr>Times New Roman</vt:lpstr>
      <vt:lpstr>WPS</vt:lpstr>
      <vt:lpstr>Adapter Scaling Trade-off and Timestep-Conditioned Schedulingin Multi-view Diffusion Texture Generation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沈国栋</dc:creator>
  <cp:lastModifiedBy>Che xueyuan</cp:lastModifiedBy>
  <cp:revision>31</cp:revision>
  <dcterms:created xsi:type="dcterms:W3CDTF">2023-08-09T12:44:00Z</dcterms:created>
  <dcterms:modified xsi:type="dcterms:W3CDTF">2026-07-08T13:18:18Z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2689B9B44B01486A8F7EA67A0AE54265_13</vt:lpwstr>
  </property>
  <property fmtid="{D5CDD505-2E9C-101B-9397-08002B2CF9AE}" pid="3" name="KSOProductBuildVer">
    <vt:lpwstr>2052-12.1.0.25225</vt:lpwstr>
  </property>
</Properties>
</file>