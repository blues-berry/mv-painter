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n-US" sz="4400" spc="-1" strike="noStrike">
                <a:latin typeface="Arial"/>
              </a:rPr>
              <a:t>Click to move the slide</a:t>
            </a:r>
            <a:endParaRPr b="0" lang="en-US" sz="4400" spc="-1" strike="noStrike">
              <a:latin typeface="Arial"/>
            </a:endParaRPr>
          </a:p>
        </p:txBody>
      </p:sp>
      <p:sp>
        <p:nvSpPr>
          <p:cNvPr id="42"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43"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44"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45"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46"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243F00F5-DB23-4C65-AF1E-A568441E9CE9}"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216000" y="812520"/>
            <a:ext cx="7127280" cy="4008960"/>
          </a:xfrm>
          <a:prstGeom prst="rect">
            <a:avLst/>
          </a:prstGeom>
        </p:spPr>
      </p:sp>
      <p:sp>
        <p:nvSpPr>
          <p:cNvPr id="231"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This demo uses AI-generated narration. This presentation summarizes the V5 journal study of timestep-conditioned adapter scaling for multi-view diffusion texture generation. The focus is what survives comparison with strong controls and evaluation on baked assets.</a:t>
            </a:r>
            <a:endParaRPr b="0" lang="en-US" sz="20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216000" y="812520"/>
            <a:ext cx="7127280" cy="4008960"/>
          </a:xfrm>
          <a:prstGeom prst="rect">
            <a:avLst/>
          </a:prstGeom>
        </p:spPr>
      </p:sp>
      <p:sp>
        <p:nvSpPr>
          <p:cNvPr id="233"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For graphics, generated RGB views are intermediate. The deliverable is a textured mesh whose appearance should be checked from cameras not used to generate or bake its texture. Projection, UV coverage, and resampling can change the result. This study connects image-space scores to that asset-level outcome.</a:t>
            </a:r>
            <a:endParaRPr b="0" lang="en-US"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sldImg"/>
          </p:nvPr>
        </p:nvSpPr>
        <p:spPr>
          <a:xfrm>
            <a:off x="216000" y="812520"/>
            <a:ext cx="7127280" cy="4008960"/>
          </a:xfrm>
          <a:prstGeom prst="rect">
            <a:avLst/>
          </a:prstGeom>
        </p:spPr>
      </p:sp>
      <p:sp>
        <p:nvSpPr>
          <p:cNvPr id="235"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TCAS changes the requested multiplier on an existing GeoTex adapter residual; it does not add a learned module. The historical C3 profile requests 1.25, 2.50, and 1.25 across early, middle, and late windows. In Fresh C, the shallow group is capped at 0.80 throughout. The realized correction also depends on the evolving hidden state, so a scale label is not a residual-dose measurement.</a:t>
            </a:r>
            <a:endParaRPr b="0" lang="en-US" sz="20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216000" y="812520"/>
            <a:ext cx="7127280" cy="4008960"/>
          </a:xfrm>
          <a:prstGeom prst="rect">
            <a:avLst/>
          </a:prstGeom>
        </p:spPr>
      </p:sp>
      <p:sp>
        <p:nvSpPr>
          <p:cNvPr id="237"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On 300 held-out objects, C3 improves foreground PSNR over Fixed Low by 0.522 decibels. That comparison also raises the deep and middle applied-scale sums from 62.5 to 82.5. Fixed High and Generic Linear have better means than C3 across all four evaluated image endpoints. This revises the interpretation of the original low-versus-high-versus-low result. The figure shows examples, not an estimate of typical appearance.</a:t>
            </a:r>
            <a:endParaRPr b="0" lang="en-US" sz="20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216000" y="812520"/>
            <a:ext cx="7127280" cy="4008960"/>
          </a:xfrm>
          <a:prstGeom prst="rect">
            <a:avLst/>
          </a:prstGeom>
        </p:spPr>
      </p:sp>
      <p:sp>
        <p:nvSpPr>
          <p:cNvPr id="239"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The specified timing primary compares Middle-high with the object-wise average of Early-high and Late-high at matched per-group applied-scale sums. The mean difference is minus 0.0339 decibels, with a 95 percent interval from minus 0.1172 to plus 0.0514 and a p-value of 0.432. It detects no middle-window advantage and does not establish equivalence. Retrospective pairwise contrasts differ in opposite directions, indicating within-cohort placement sensitivity without selecting a preferred schedule.</a:t>
            </a:r>
            <a:endParaRPr b="0" lang="en-US" sz="20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216000" y="812520"/>
            <a:ext cx="7127280" cy="4008960"/>
          </a:xfrm>
          <a:prstGeom prst="rect">
            <a:avLst/>
          </a:prstGeom>
        </p:spPr>
      </p:sp>
      <p:sp>
        <p:nvSpPr>
          <p:cNvPr id="241"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In the compatibility-selected GeoTex bake pilot, Late-high—not C3—reduces unseen-view LPIPS relative to Fixed Mean by 0.00265 on ten objects. The change closes about 3.7 percent of the mean reference self-bake gap, while substantial appearance error remains. A separate twenty-object GSO bake study does not detect the same benefit under its distinct protocol.</a:t>
            </a:r>
            <a:endParaRPr b="0" lang="en-US" sz="20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216000" y="812520"/>
            <a:ext cx="7127280" cy="4008960"/>
          </a:xfrm>
          <a:prstGeom prst="rect">
            <a:avLst/>
          </a:prstGeom>
        </p:spPr>
      </p:sp>
      <p:sp>
        <p:nvSpPr>
          <p:cNvPr id="243"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The visual comparison makes the remaining reference-appearance gap concrete. Image-space improvements do not establish faithful color or material reproduction. The bake evaluation uses unlit base color; it does not test a physically based material or lighting pipeline.</a:t>
            </a:r>
            <a:endParaRPr b="0" lang="en-US" sz="20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216000" y="812520"/>
            <a:ext cx="7127280" cy="4008960"/>
          </a:xfrm>
          <a:prstGeom prst="rect">
            <a:avLst/>
          </a:prstGeom>
        </p:spPr>
      </p:sp>
      <p:sp>
        <p:nvSpPr>
          <p:cNvPr id="245"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The two MV-Adapter timing primaries also do not detect their specified middle-window contrasts: plus 0.029 decibels on fifty objects and minus 0.014 on the GSO one-hundred-object cohort, with both intervals spanning zero. These are separate cohorts and primary comparisons. GSO one hundred uses the same MV-Adapter interface, so it is not an independent backbone replication.</a:t>
            </a:r>
            <a:endParaRPr b="0" lang="en-US" sz="20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216000" y="812520"/>
            <a:ext cx="7127280" cy="4008960"/>
          </a:xfrm>
          <a:prstGeom prst="rect">
            <a:avLst/>
          </a:prstGeom>
        </p:spPr>
      </p:sp>
      <p:sp>
        <p:nvSpPr>
          <p:cNvPr id="247"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The contribution is an evidence chain for an implemented graphics control. We report requested values, cap-adjusted applied values, and state-dependent corrections; compare C3 with competitive fixed and linear controls and a matched scalar budget; then evaluate native UV bakes from unseen cameras and test boundaries across interfaces. The findings support reporting the executed interface and asset response, not a universal schedule recommendation.</a:t>
            </a:r>
            <a:endParaRPr b="0" lang="en-US"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216000" y="812520"/>
            <a:ext cx="7127280" cy="4008960"/>
          </a:xfrm>
          <a:prstGeom prst="rect">
            <a:avLst/>
          </a:prstGeom>
        </p:spPr>
      </p:sp>
      <p:sp>
        <p:nvSpPr>
          <p:cNvPr id="249"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The limited public data release is archived as Zenodo version 1.0.1 at DOI 10.5281 slash zenodo dot 23383807. It contains selected derived metrics and attribution records. It excludes source meshes and textures, generated-image archives, model weights, checkpoints, and participant-level responses. Overall, the evidence does not identify a universally preferred schedule or establish faithful material reproduction. Thank you.</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6" name="PlaceHolder 2"/>
          <p:cNvSpPr>
            <a:spLocks noGrp="1"/>
          </p:cNvSpPr>
          <p:nvPr>
            <p:ph type="subTitle"/>
          </p:nvPr>
        </p:nvSpPr>
        <p:spPr>
          <a:xfrm>
            <a:off x="504000" y="1326600"/>
            <a:ext cx="9071640" cy="32882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8" name="PlaceHolder 2"/>
          <p:cNvSpPr>
            <a:spLocks noGrp="1"/>
          </p:cNvSpPr>
          <p:nvPr>
            <p:ph type="body"/>
          </p:nvPr>
        </p:nvSpPr>
        <p:spPr>
          <a:xfrm>
            <a:off x="504000" y="1326600"/>
            <a:ext cx="907164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10"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11"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15"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16"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
        <p:nvSpPr>
          <p:cNvPr id="17"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19"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20"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1" name="PlaceHolder 4"/>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23"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24"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5" name="PlaceHolder 4"/>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27" name="PlaceHolder 2"/>
          <p:cNvSpPr>
            <a:spLocks noGrp="1"/>
          </p:cNvSpPr>
          <p:nvPr>
            <p:ph type="body"/>
          </p:nvPr>
        </p:nvSpPr>
        <p:spPr>
          <a:xfrm>
            <a:off x="504000" y="1326600"/>
            <a:ext cx="9071640" cy="156816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30"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31"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32"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
        <p:nvSpPr>
          <p:cNvPr id="33" name="PlaceHolder 5"/>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35" name="PlaceHolder 2"/>
          <p:cNvSpPr>
            <a:spLocks noGrp="1"/>
          </p:cNvSpPr>
          <p:nvPr>
            <p:ph type="body"/>
          </p:nvPr>
        </p:nvSpPr>
        <p:spPr>
          <a:xfrm>
            <a:off x="504000" y="1326600"/>
            <a:ext cx="2920680" cy="1568160"/>
          </a:xfrm>
          <a:prstGeom prst="rect">
            <a:avLst/>
          </a:prstGeom>
        </p:spPr>
        <p:txBody>
          <a:bodyPr lIns="0" rIns="0" tIns="0" bIns="0">
            <a:normAutofit/>
          </a:bodyPr>
          <a:p>
            <a:endParaRPr b="0" lang="en-US" sz="3200" spc="-1" strike="noStrike">
              <a:latin typeface="Arial"/>
            </a:endParaRPr>
          </a:p>
        </p:txBody>
      </p:sp>
      <p:sp>
        <p:nvSpPr>
          <p:cNvPr id="36" name="PlaceHolder 3"/>
          <p:cNvSpPr>
            <a:spLocks noGrp="1"/>
          </p:cNvSpPr>
          <p:nvPr>
            <p:ph type="body"/>
          </p:nvPr>
        </p:nvSpPr>
        <p:spPr>
          <a:xfrm>
            <a:off x="3571200" y="1326600"/>
            <a:ext cx="2920680" cy="1568160"/>
          </a:xfrm>
          <a:prstGeom prst="rect">
            <a:avLst/>
          </a:prstGeom>
        </p:spPr>
        <p:txBody>
          <a:bodyPr lIns="0" rIns="0" tIns="0" bIns="0">
            <a:normAutofit/>
          </a:bodyPr>
          <a:p>
            <a:endParaRPr b="0" lang="en-US" sz="3200" spc="-1" strike="noStrike">
              <a:latin typeface="Arial"/>
            </a:endParaRPr>
          </a:p>
        </p:txBody>
      </p:sp>
      <p:sp>
        <p:nvSpPr>
          <p:cNvPr id="37" name="PlaceHolder 4"/>
          <p:cNvSpPr>
            <a:spLocks noGrp="1"/>
          </p:cNvSpPr>
          <p:nvPr>
            <p:ph type="body"/>
          </p:nvPr>
        </p:nvSpPr>
        <p:spPr>
          <a:xfrm>
            <a:off x="6638040" y="1326600"/>
            <a:ext cx="2920680" cy="1568160"/>
          </a:xfrm>
          <a:prstGeom prst="rect">
            <a:avLst/>
          </a:prstGeom>
        </p:spPr>
        <p:txBody>
          <a:bodyPr lIns="0" rIns="0" tIns="0" bIns="0">
            <a:normAutofit/>
          </a:bodyPr>
          <a:p>
            <a:endParaRPr b="0" lang="en-US" sz="3200" spc="-1" strike="noStrike">
              <a:latin typeface="Arial"/>
            </a:endParaRPr>
          </a:p>
        </p:txBody>
      </p:sp>
      <p:sp>
        <p:nvSpPr>
          <p:cNvPr id="38" name="PlaceHolder 5"/>
          <p:cNvSpPr>
            <a:spLocks noGrp="1"/>
          </p:cNvSpPr>
          <p:nvPr>
            <p:ph type="body"/>
          </p:nvPr>
        </p:nvSpPr>
        <p:spPr>
          <a:xfrm>
            <a:off x="504000" y="3044160"/>
            <a:ext cx="2920680" cy="1568160"/>
          </a:xfrm>
          <a:prstGeom prst="rect">
            <a:avLst/>
          </a:prstGeom>
        </p:spPr>
        <p:txBody>
          <a:bodyPr lIns="0" rIns="0" tIns="0" bIns="0">
            <a:normAutofit/>
          </a:bodyPr>
          <a:p>
            <a:endParaRPr b="0" lang="en-US" sz="3200" spc="-1" strike="noStrike">
              <a:latin typeface="Arial"/>
            </a:endParaRPr>
          </a:p>
        </p:txBody>
      </p:sp>
      <p:sp>
        <p:nvSpPr>
          <p:cNvPr id="39" name="PlaceHolder 6"/>
          <p:cNvSpPr>
            <a:spLocks noGrp="1"/>
          </p:cNvSpPr>
          <p:nvPr>
            <p:ph type="body"/>
          </p:nvPr>
        </p:nvSpPr>
        <p:spPr>
          <a:xfrm>
            <a:off x="3571200" y="3044160"/>
            <a:ext cx="2920680" cy="1568160"/>
          </a:xfrm>
          <a:prstGeom prst="rect">
            <a:avLst/>
          </a:prstGeom>
        </p:spPr>
        <p:txBody>
          <a:bodyPr lIns="0" rIns="0" tIns="0" bIns="0">
            <a:normAutofit/>
          </a:bodyPr>
          <a:p>
            <a:endParaRPr b="0" lang="en-US" sz="3200" spc="-1" strike="noStrike">
              <a:latin typeface="Arial"/>
            </a:endParaRPr>
          </a:p>
        </p:txBody>
      </p:sp>
      <p:sp>
        <p:nvSpPr>
          <p:cNvPr id="40" name="PlaceHolder 7"/>
          <p:cNvSpPr>
            <a:spLocks noGrp="1"/>
          </p:cNvSpPr>
          <p:nvPr>
            <p:ph type="body"/>
          </p:nvPr>
        </p:nvSpPr>
        <p:spPr>
          <a:xfrm>
            <a:off x="6638040" y="3044160"/>
            <a:ext cx="2920680" cy="156816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
        <p:nvSpPr>
          <p:cNvPr id="2" name="PlaceHolder 3"/>
          <p:cNvSpPr>
            <a:spLocks noGrp="1"/>
          </p:cNvSpPr>
          <p:nvPr>
            <p:ph type="dt"/>
          </p:nvPr>
        </p:nvSpPr>
        <p:spPr>
          <a:xfrm>
            <a:off x="504000" y="5165280"/>
            <a:ext cx="2348280" cy="390600"/>
          </a:xfrm>
          <a:prstGeom prst="rect">
            <a:avLst/>
          </a:prstGeom>
        </p:spPr>
        <p:txBody>
          <a:bodyPr lIns="0" rIns="0" tIns="0" bIns="0">
            <a:noAutofit/>
          </a:bodyPr>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ftr"/>
          </p:nvPr>
        </p:nvSpPr>
        <p:spPr>
          <a:xfrm>
            <a:off x="3447360" y="5165280"/>
            <a:ext cx="3195000" cy="390600"/>
          </a:xfrm>
          <a:prstGeom prst="rect">
            <a:avLst/>
          </a:prstGeom>
        </p:spPr>
        <p:txBody>
          <a:bodyPr lIns="0" rIns="0" tIns="0" bIns="0">
            <a:noAutofit/>
          </a:bodyPr>
          <a:p>
            <a:pPr algn="ct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p:nvPr>
        </p:nvSpPr>
        <p:spPr>
          <a:xfrm>
            <a:off x="7227360" y="5165280"/>
            <a:ext cx="2348280" cy="390600"/>
          </a:xfrm>
          <a:prstGeom prst="rect">
            <a:avLst/>
          </a:prstGeom>
        </p:spPr>
        <p:txBody>
          <a:bodyPr lIns="0" rIns="0" tIns="0" bIns="0">
            <a:noAutofit/>
          </a:bodyPr>
          <a:p>
            <a:pPr algn="r"/>
            <a:fld id="{5537D79B-C0CA-4384-8D61-6A6D4387693D}"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Rectangle 1"/>
          <p:cNvSpPr/>
          <p:nvPr/>
        </p:nvSpPr>
        <p:spPr>
          <a:xfrm>
            <a:off x="0" y="0"/>
            <a:ext cx="12192120" cy="6858000"/>
          </a:xfrm>
          <a:prstGeom prst="rect">
            <a:avLst/>
          </a:prstGeom>
          <a:solidFill>
            <a:srgbClr val="18324b"/>
          </a:solidFill>
          <a:ln>
            <a:noFill/>
          </a:ln>
        </p:spPr>
      </p:sp>
      <p:sp>
        <p:nvSpPr>
          <p:cNvPr id="48" name="Rectangle 2"/>
          <p:cNvSpPr/>
          <p:nvPr/>
        </p:nvSpPr>
        <p:spPr>
          <a:xfrm>
            <a:off x="0" y="0"/>
            <a:ext cx="129600" cy="6858000"/>
          </a:xfrm>
          <a:prstGeom prst="rect">
            <a:avLst/>
          </a:prstGeom>
          <a:solidFill>
            <a:srgbClr val="087e8b"/>
          </a:solidFill>
          <a:ln>
            <a:noFill/>
          </a:ln>
        </p:spPr>
      </p:sp>
      <p:sp>
        <p:nvSpPr>
          <p:cNvPr id="49" name="Rectangle 3"/>
          <p:cNvSpPr/>
          <p:nvPr/>
        </p:nvSpPr>
        <p:spPr>
          <a:xfrm>
            <a:off x="720000" y="892800"/>
            <a:ext cx="648000" cy="43200"/>
          </a:xfrm>
          <a:prstGeom prst="rect">
            <a:avLst/>
          </a:prstGeom>
          <a:solidFill>
            <a:srgbClr val="e5a83b"/>
          </a:solidFill>
          <a:ln>
            <a:noFill/>
          </a:ln>
        </p:spPr>
      </p:sp>
      <p:sp>
        <p:nvSpPr>
          <p:cNvPr id="50" name="Rectangle 4"/>
          <p:cNvSpPr/>
          <p:nvPr/>
        </p:nvSpPr>
        <p:spPr>
          <a:xfrm>
            <a:off x="720000" y="648000"/>
            <a:ext cx="10800000" cy="180000"/>
          </a:xfrm>
          <a:prstGeom prst="rect">
            <a:avLst/>
          </a:prstGeom>
          <a:noFill/>
          <a:ln>
            <a:noFill/>
          </a:ln>
        </p:spPr>
        <p:txBody>
          <a:bodyPr lIns="0" rIns="0" tIns="0" bIns="0" anchorCtr="1">
            <a:noAutofit/>
          </a:bodyPr>
          <a:p>
            <a:r>
              <a:rPr b="1" lang="en-US" sz="1200" spc="-1" strike="noStrike">
                <a:solidFill>
                  <a:srgbClr val="c7d6e2"/>
                </a:solidFill>
                <a:latin typeface="Arial"/>
              </a:rPr>
              <a:t>COMPUTERS &amp; GRAPHICS  |  JOURNAL STUDY</a:t>
            </a:r>
            <a:endParaRPr b="1" lang="en-US" sz="1200" spc="-1" strike="noStrike">
              <a:solidFill>
                <a:srgbClr val="c7d6e2"/>
              </a:solidFill>
              <a:latin typeface="Arial"/>
            </a:endParaRPr>
          </a:p>
        </p:txBody>
      </p:sp>
      <p:sp>
        <p:nvSpPr>
          <p:cNvPr id="51" name="Rectangle 5"/>
          <p:cNvSpPr/>
          <p:nvPr/>
        </p:nvSpPr>
        <p:spPr>
          <a:xfrm>
            <a:off x="720000" y="1260000"/>
            <a:ext cx="10656000" cy="936000"/>
          </a:xfrm>
          <a:prstGeom prst="rect">
            <a:avLst/>
          </a:prstGeom>
          <a:noFill/>
          <a:ln>
            <a:noFill/>
          </a:ln>
        </p:spPr>
        <p:txBody>
          <a:bodyPr lIns="0" rIns="0" tIns="0" bIns="0" anchorCtr="1">
            <a:noAutofit/>
          </a:bodyPr>
          <a:p>
            <a:r>
              <a:rPr b="1" lang="en-US" sz="3100" spc="-1" strike="noStrike">
                <a:solidFill>
                  <a:srgbClr val="ffffff"/>
                </a:solidFill>
                <a:latin typeface="Arial"/>
              </a:rPr>
              <a:t>Timestep-Conditioned Adapter Scaling</a:t>
            </a:r>
            <a:endParaRPr b="1" lang="en-US" sz="3100" spc="-1" strike="noStrike">
              <a:solidFill>
                <a:srgbClr val="ffffff"/>
              </a:solidFill>
              <a:latin typeface="Arial"/>
            </a:endParaRPr>
          </a:p>
          <a:p>
            <a:r>
              <a:rPr b="1" lang="en-US" sz="3100" spc="-1" strike="noStrike">
                <a:solidFill>
                  <a:srgbClr val="ffffff"/>
                </a:solidFill>
                <a:latin typeface="Arial"/>
              </a:rPr>
              <a:t>for Multi-view Diffusion Texture Generation</a:t>
            </a:r>
            <a:endParaRPr b="1" lang="en-US" sz="3100" spc="-1" strike="noStrike">
              <a:solidFill>
                <a:srgbClr val="ffffff"/>
              </a:solidFill>
              <a:latin typeface="Arial"/>
            </a:endParaRPr>
          </a:p>
        </p:txBody>
      </p:sp>
      <p:sp>
        <p:nvSpPr>
          <p:cNvPr id="52" name="Rectangle 6"/>
          <p:cNvSpPr/>
          <p:nvPr/>
        </p:nvSpPr>
        <p:spPr>
          <a:xfrm>
            <a:off x="738000" y="2448000"/>
            <a:ext cx="10260000" cy="396000"/>
          </a:xfrm>
          <a:prstGeom prst="rect">
            <a:avLst/>
          </a:prstGeom>
          <a:noFill/>
          <a:ln>
            <a:noFill/>
          </a:ln>
        </p:spPr>
        <p:txBody>
          <a:bodyPr lIns="0" rIns="0" tIns="0" bIns="0" anchorCtr="1">
            <a:noAutofit/>
          </a:bodyPr>
          <a:p>
            <a:r>
              <a:rPr b="0" lang="en-US" sz="2200" spc="-1" strike="noStrike">
                <a:solidFill>
                  <a:srgbClr val="b9e3e5"/>
                </a:solidFill>
                <a:latin typeface="Arial"/>
              </a:rPr>
              <a:t>Control allocation and baked appearance</a:t>
            </a:r>
            <a:endParaRPr b="0" lang="en-US" sz="2200" spc="-1" strike="noStrike">
              <a:solidFill>
                <a:srgbClr val="b9e3e5"/>
              </a:solidFill>
              <a:latin typeface="Arial"/>
            </a:endParaRPr>
          </a:p>
        </p:txBody>
      </p:sp>
      <p:sp>
        <p:nvSpPr>
          <p:cNvPr id="53" name="Rectangle 7"/>
          <p:cNvSpPr/>
          <p:nvPr/>
        </p:nvSpPr>
        <p:spPr>
          <a:xfrm>
            <a:off x="738000" y="3600000"/>
            <a:ext cx="10008000" cy="522000"/>
          </a:xfrm>
          <a:prstGeom prst="rect">
            <a:avLst/>
          </a:prstGeom>
          <a:noFill/>
          <a:ln>
            <a:noFill/>
          </a:ln>
        </p:spPr>
        <p:txBody>
          <a:bodyPr lIns="0" rIns="0" tIns="0" bIns="0" anchorCtr="1">
            <a:noAutofit/>
          </a:bodyPr>
          <a:p>
            <a:r>
              <a:rPr b="0" lang="en-US" sz="1600" spc="-1" strike="noStrike">
                <a:solidFill>
                  <a:srgbClr val="ffffff"/>
                </a:solidFill>
                <a:latin typeface="Arial"/>
              </a:rPr>
              <a:t>A controlled evaluation of an existing geometry-residual interface,</a:t>
            </a:r>
            <a:endParaRPr b="0" lang="en-US" sz="1600" spc="-1" strike="noStrike">
              <a:solidFill>
                <a:srgbClr val="ffffff"/>
              </a:solidFill>
              <a:latin typeface="Arial"/>
            </a:endParaRPr>
          </a:p>
          <a:p>
            <a:r>
              <a:rPr b="0" lang="en-US" sz="1600" spc="-1" strike="noStrike">
                <a:solidFill>
                  <a:srgbClr val="ffffff"/>
                </a:solidFill>
                <a:latin typeface="Arial"/>
              </a:rPr>
              <a:t>from applied scale to UV-textured assets viewed from unseen cameras.</a:t>
            </a:r>
            <a:endParaRPr b="0" lang="en-US" sz="1600" spc="-1" strike="noStrike">
              <a:solidFill>
                <a:srgbClr val="ffffff"/>
              </a:solidFill>
              <a:latin typeface="Arial"/>
            </a:endParaRPr>
          </a:p>
        </p:txBody>
      </p:sp>
      <p:sp>
        <p:nvSpPr>
          <p:cNvPr id="54" name="Rectangle 8"/>
          <p:cNvSpPr/>
          <p:nvPr/>
        </p:nvSpPr>
        <p:spPr>
          <a:xfrm>
            <a:off x="738000" y="5508000"/>
            <a:ext cx="9900000" cy="234000"/>
          </a:xfrm>
          <a:prstGeom prst="rect">
            <a:avLst/>
          </a:prstGeom>
          <a:noFill/>
          <a:ln>
            <a:noFill/>
          </a:ln>
        </p:spPr>
        <p:txBody>
          <a:bodyPr lIns="0" rIns="0" tIns="0" bIns="0" anchorCtr="1">
            <a:noAutofit/>
          </a:bodyPr>
          <a:p>
            <a:r>
              <a:rPr b="0" lang="en-US" sz="1200" spc="-1" strike="noStrike">
                <a:solidFill>
                  <a:srgbClr val="c7d6e2"/>
                </a:solidFill>
                <a:latin typeface="Arial"/>
              </a:rPr>
              <a:t>CAD/Graphics 2026 Paper 75  |  Revised journal evaluation</a:t>
            </a:r>
            <a:endParaRPr b="0" lang="en-US" sz="1200" spc="-1" strike="noStrike">
              <a:solidFill>
                <a:srgbClr val="c7d6e2"/>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Rectangle 1"/>
          <p:cNvSpPr/>
          <p:nvPr/>
        </p:nvSpPr>
        <p:spPr>
          <a:xfrm>
            <a:off x="0" y="0"/>
            <a:ext cx="12192120" cy="6858000"/>
          </a:xfrm>
          <a:prstGeom prst="rect">
            <a:avLst/>
          </a:prstGeom>
          <a:solidFill>
            <a:srgbClr val="f5f8fc"/>
          </a:solidFill>
          <a:ln>
            <a:noFill/>
          </a:ln>
        </p:spPr>
      </p:sp>
      <p:sp>
        <p:nvSpPr>
          <p:cNvPr id="56"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57"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The graphics result is the textured asset, not only the generated view</a:t>
            </a:r>
            <a:endParaRPr b="1" lang="en-US" sz="2700" spc="-1" strike="noStrike">
              <a:solidFill>
                <a:srgbClr val="18324b"/>
              </a:solidFill>
              <a:latin typeface="Arial"/>
            </a:endParaRPr>
          </a:p>
        </p:txBody>
      </p:sp>
      <p:sp>
        <p:nvSpPr>
          <p:cNvPr id="58" name="Rectangle 4"/>
          <p:cNvSpPr/>
          <p:nvPr/>
        </p:nvSpPr>
        <p:spPr>
          <a:xfrm>
            <a:off x="468000" y="6534000"/>
            <a:ext cx="11250000" cy="7920"/>
          </a:xfrm>
          <a:prstGeom prst="rect">
            <a:avLst/>
          </a:prstGeom>
          <a:solidFill>
            <a:srgbClr val="d9e2ea"/>
          </a:solidFill>
          <a:ln>
            <a:noFill/>
          </a:ln>
        </p:spPr>
      </p:sp>
      <p:sp>
        <p:nvSpPr>
          <p:cNvPr id="59"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60"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02 / 10</a:t>
            </a:r>
            <a:endParaRPr b="0" lang="en-US" sz="900" spc="-1" strike="noStrike">
              <a:solidFill>
                <a:srgbClr val="758697"/>
              </a:solidFill>
              <a:latin typeface="Arial"/>
            </a:endParaRPr>
          </a:p>
        </p:txBody>
      </p:sp>
      <p:sp>
        <p:nvSpPr>
          <p:cNvPr id="61" name="Rectangle 7"/>
          <p:cNvSpPr/>
          <p:nvPr/>
        </p:nvSpPr>
        <p:spPr>
          <a:xfrm>
            <a:off x="540000" y="1512000"/>
            <a:ext cx="180000" cy="756000"/>
          </a:xfrm>
          <a:prstGeom prst="rect">
            <a:avLst/>
          </a:prstGeom>
          <a:noFill/>
          <a:ln>
            <a:noFill/>
          </a:ln>
        </p:spPr>
        <p:txBody>
          <a:bodyPr lIns="0" rIns="0" tIns="0" bIns="0" anchorCtr="1">
            <a:noAutofit/>
          </a:bodyPr>
          <a:p>
            <a:r>
              <a:rPr b="1" lang="en-US" sz="1900" spc="-1" strike="noStrike">
                <a:solidFill>
                  <a:srgbClr val="087e8b"/>
                </a:solidFill>
                <a:latin typeface="Arial"/>
              </a:rPr>
              <a:t>•</a:t>
            </a:r>
            <a:endParaRPr b="1" lang="en-US" sz="1900" spc="-1" strike="noStrike">
              <a:solidFill>
                <a:srgbClr val="087e8b"/>
              </a:solidFill>
              <a:latin typeface="Arial"/>
            </a:endParaRPr>
          </a:p>
        </p:txBody>
      </p:sp>
      <p:sp>
        <p:nvSpPr>
          <p:cNvPr id="62" name="Rectangle 8"/>
          <p:cNvSpPr/>
          <p:nvPr/>
        </p:nvSpPr>
        <p:spPr>
          <a:xfrm>
            <a:off x="792000" y="1512000"/>
            <a:ext cx="4500000" cy="756000"/>
          </a:xfrm>
          <a:prstGeom prst="rect">
            <a:avLst/>
          </a:prstGeom>
          <a:noFill/>
          <a:ln>
            <a:noFill/>
          </a:ln>
        </p:spPr>
        <p:txBody>
          <a:bodyPr lIns="0" rIns="0" tIns="0" bIns="0" anchorCtr="1">
            <a:noAutofit/>
          </a:bodyPr>
          <a:p>
            <a:r>
              <a:rPr b="0" lang="en-US" sz="1700" spc="-1" strike="noStrike">
                <a:solidFill>
                  <a:srgbClr val="243444"/>
                </a:solidFill>
                <a:latin typeface="Arial"/>
              </a:rPr>
              <a:t>Generated RGB views are intermediate outputs in a 3D texturing pipeline.</a:t>
            </a:r>
            <a:endParaRPr b="0" lang="en-US" sz="1700" spc="-1" strike="noStrike">
              <a:solidFill>
                <a:srgbClr val="243444"/>
              </a:solidFill>
              <a:latin typeface="Arial"/>
            </a:endParaRPr>
          </a:p>
        </p:txBody>
      </p:sp>
      <p:sp>
        <p:nvSpPr>
          <p:cNvPr id="63" name="Rectangle 9"/>
          <p:cNvSpPr/>
          <p:nvPr/>
        </p:nvSpPr>
        <p:spPr>
          <a:xfrm>
            <a:off x="540000" y="2556000"/>
            <a:ext cx="180000" cy="828000"/>
          </a:xfrm>
          <a:prstGeom prst="rect">
            <a:avLst/>
          </a:prstGeom>
          <a:noFill/>
          <a:ln>
            <a:noFill/>
          </a:ln>
        </p:spPr>
        <p:txBody>
          <a:bodyPr lIns="0" rIns="0" tIns="0" bIns="0" anchorCtr="1">
            <a:noAutofit/>
          </a:bodyPr>
          <a:p>
            <a:r>
              <a:rPr b="1" lang="en-US" sz="1900" spc="-1" strike="noStrike">
                <a:solidFill>
                  <a:srgbClr val="087e8b"/>
                </a:solidFill>
                <a:latin typeface="Arial"/>
              </a:rPr>
              <a:t>•</a:t>
            </a:r>
            <a:endParaRPr b="1" lang="en-US" sz="1900" spc="-1" strike="noStrike">
              <a:solidFill>
                <a:srgbClr val="087e8b"/>
              </a:solidFill>
              <a:latin typeface="Arial"/>
            </a:endParaRPr>
          </a:p>
        </p:txBody>
      </p:sp>
      <p:sp>
        <p:nvSpPr>
          <p:cNvPr id="64" name="Rectangle 10"/>
          <p:cNvSpPr/>
          <p:nvPr/>
        </p:nvSpPr>
        <p:spPr>
          <a:xfrm>
            <a:off x="792000" y="2556000"/>
            <a:ext cx="4500000" cy="828000"/>
          </a:xfrm>
          <a:prstGeom prst="rect">
            <a:avLst/>
          </a:prstGeom>
          <a:noFill/>
          <a:ln>
            <a:noFill/>
          </a:ln>
        </p:spPr>
        <p:txBody>
          <a:bodyPr lIns="0" rIns="0" tIns="0" bIns="0" anchorCtr="1">
            <a:noAutofit/>
          </a:bodyPr>
          <a:p>
            <a:r>
              <a:rPr b="0" lang="en-US" sz="1700" spc="-1" strike="noStrike">
                <a:solidFill>
                  <a:srgbClr val="243444"/>
                </a:solidFill>
                <a:latin typeface="Arial"/>
              </a:rPr>
              <a:t>Projection, UV coverage, hole filling, and resampling affect the final appearance.</a:t>
            </a:r>
            <a:endParaRPr b="0" lang="en-US" sz="1700" spc="-1" strike="noStrike">
              <a:solidFill>
                <a:srgbClr val="243444"/>
              </a:solidFill>
              <a:latin typeface="Arial"/>
            </a:endParaRPr>
          </a:p>
        </p:txBody>
      </p:sp>
      <p:sp>
        <p:nvSpPr>
          <p:cNvPr id="65" name="Rectangle 11"/>
          <p:cNvSpPr/>
          <p:nvPr/>
        </p:nvSpPr>
        <p:spPr>
          <a:xfrm>
            <a:off x="540000" y="3708000"/>
            <a:ext cx="180000" cy="828000"/>
          </a:xfrm>
          <a:prstGeom prst="rect">
            <a:avLst/>
          </a:prstGeom>
          <a:noFill/>
          <a:ln>
            <a:noFill/>
          </a:ln>
        </p:spPr>
        <p:txBody>
          <a:bodyPr lIns="0" rIns="0" tIns="0" bIns="0" anchorCtr="1">
            <a:noAutofit/>
          </a:bodyPr>
          <a:p>
            <a:r>
              <a:rPr b="1" lang="en-US" sz="1900" spc="-1" strike="noStrike">
                <a:solidFill>
                  <a:srgbClr val="087e8b"/>
                </a:solidFill>
                <a:latin typeface="Arial"/>
              </a:rPr>
              <a:t>•</a:t>
            </a:r>
            <a:endParaRPr b="1" lang="en-US" sz="1900" spc="-1" strike="noStrike">
              <a:solidFill>
                <a:srgbClr val="087e8b"/>
              </a:solidFill>
              <a:latin typeface="Arial"/>
            </a:endParaRPr>
          </a:p>
        </p:txBody>
      </p:sp>
      <p:sp>
        <p:nvSpPr>
          <p:cNvPr id="66" name="Rectangle 12"/>
          <p:cNvSpPr/>
          <p:nvPr/>
        </p:nvSpPr>
        <p:spPr>
          <a:xfrm>
            <a:off x="792000" y="3708000"/>
            <a:ext cx="4500000" cy="828000"/>
          </a:xfrm>
          <a:prstGeom prst="rect">
            <a:avLst/>
          </a:prstGeom>
          <a:noFill/>
          <a:ln>
            <a:noFill/>
          </a:ln>
        </p:spPr>
        <p:txBody>
          <a:bodyPr lIns="0" rIns="0" tIns="0" bIns="0" anchorCtr="1">
            <a:noAutofit/>
          </a:bodyPr>
          <a:p>
            <a:r>
              <a:rPr b="0" lang="en-US" sz="1700" spc="-1" strike="noStrike">
                <a:solidFill>
                  <a:srgbClr val="243444"/>
                </a:solidFill>
                <a:latin typeface="Arial"/>
              </a:rPr>
              <a:t>We evaluate baked meshes from cameras withheld from texture generation and baking.</a:t>
            </a:r>
            <a:endParaRPr b="0" lang="en-US" sz="1700" spc="-1" strike="noStrike">
              <a:solidFill>
                <a:srgbClr val="243444"/>
              </a:solidFill>
              <a:latin typeface="Arial"/>
            </a:endParaRPr>
          </a:p>
        </p:txBody>
      </p:sp>
      <p:sp>
        <p:nvSpPr>
          <p:cNvPr id="67" name="Rectangle 13"/>
          <p:cNvSpPr/>
          <p:nvPr/>
        </p:nvSpPr>
        <p:spPr>
          <a:xfrm>
            <a:off x="540000" y="5184000"/>
            <a:ext cx="4680000" cy="432000"/>
          </a:xfrm>
          <a:prstGeom prst="rect">
            <a:avLst/>
          </a:prstGeom>
          <a:noFill/>
          <a:ln>
            <a:noFill/>
          </a:ln>
        </p:spPr>
        <p:txBody>
          <a:bodyPr lIns="0" rIns="0" tIns="0" bIns="0" anchorCtr="1">
            <a:noAutofit/>
          </a:bodyPr>
          <a:p>
            <a:r>
              <a:rPr b="1" lang="en-US" sz="1300" spc="-1" strike="noStrike">
                <a:solidFill>
                  <a:srgbClr val="087e8b"/>
                </a:solidFill>
                <a:latin typeface="Arial"/>
              </a:rPr>
              <a:t>Study path: executed control → generated views → native-UV bake → unseen-view appearance</a:t>
            </a:r>
            <a:endParaRPr b="1" lang="en-US" sz="1300" spc="-1" strike="noStrike">
              <a:solidFill>
                <a:srgbClr val="087e8b"/>
              </a:solidFill>
              <a:latin typeface="Arial"/>
            </a:endParaRPr>
          </a:p>
        </p:txBody>
      </p:sp>
      <p:pic>
        <p:nvPicPr>
          <p:cNvPr id="68" name="" descr=""/>
          <p:cNvPicPr/>
          <p:nvPr/>
        </p:nvPicPr>
        <p:blipFill>
          <a:blip r:embed="rId1"/>
          <a:stretch/>
        </p:blipFill>
        <p:spPr>
          <a:xfrm>
            <a:off x="5544000" y="1404000"/>
            <a:ext cx="6120000" cy="342000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Rectangle 1"/>
          <p:cNvSpPr/>
          <p:nvPr/>
        </p:nvSpPr>
        <p:spPr>
          <a:xfrm>
            <a:off x="0" y="0"/>
            <a:ext cx="12192120" cy="6858000"/>
          </a:xfrm>
          <a:prstGeom prst="rect">
            <a:avLst/>
          </a:prstGeom>
          <a:solidFill>
            <a:srgbClr val="f5f8fc"/>
          </a:solidFill>
          <a:ln>
            <a:noFill/>
          </a:ln>
        </p:spPr>
      </p:sp>
      <p:sp>
        <p:nvSpPr>
          <p:cNvPr id="70"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71"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Follow the executed control, not the schedule label</a:t>
            </a:r>
            <a:endParaRPr b="1" lang="en-US" sz="2700" spc="-1" strike="noStrike">
              <a:solidFill>
                <a:srgbClr val="18324b"/>
              </a:solidFill>
              <a:latin typeface="Arial"/>
            </a:endParaRPr>
          </a:p>
        </p:txBody>
      </p:sp>
      <p:sp>
        <p:nvSpPr>
          <p:cNvPr id="72" name="Rectangle 4"/>
          <p:cNvSpPr/>
          <p:nvPr/>
        </p:nvSpPr>
        <p:spPr>
          <a:xfrm>
            <a:off x="468000" y="6534000"/>
            <a:ext cx="11250000" cy="7920"/>
          </a:xfrm>
          <a:prstGeom prst="rect">
            <a:avLst/>
          </a:prstGeom>
          <a:solidFill>
            <a:srgbClr val="d9e2ea"/>
          </a:solidFill>
          <a:ln>
            <a:noFill/>
          </a:ln>
        </p:spPr>
      </p:sp>
      <p:sp>
        <p:nvSpPr>
          <p:cNvPr id="73"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74"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03 / 10</a:t>
            </a:r>
            <a:endParaRPr b="0" lang="en-US" sz="900" spc="-1" strike="noStrike">
              <a:solidFill>
                <a:srgbClr val="758697"/>
              </a:solidFill>
              <a:latin typeface="Arial"/>
            </a:endParaRPr>
          </a:p>
        </p:txBody>
      </p:sp>
      <p:sp>
        <p:nvSpPr>
          <p:cNvPr id="75" name="Rectangle 7"/>
          <p:cNvSpPr/>
          <p:nvPr/>
        </p:nvSpPr>
        <p:spPr>
          <a:xfrm>
            <a:off x="612000" y="1188000"/>
            <a:ext cx="10800000" cy="234000"/>
          </a:xfrm>
          <a:prstGeom prst="rect">
            <a:avLst/>
          </a:prstGeom>
          <a:noFill/>
          <a:ln>
            <a:noFill/>
          </a:ln>
        </p:spPr>
        <p:txBody>
          <a:bodyPr lIns="0" rIns="0" tIns="0" bIns="0" anchorCtr="1">
            <a:noAutofit/>
          </a:bodyPr>
          <a:p>
            <a:r>
              <a:rPr b="1" lang="en-US" sz="1600" spc="-1" strike="noStrike">
                <a:solidFill>
                  <a:srgbClr val="596b7b"/>
                </a:solidFill>
                <a:latin typeface="Arial"/>
              </a:rPr>
              <a:t>Historical C3 request across 50 denoising steps</a:t>
            </a:r>
            <a:endParaRPr b="1" lang="en-US" sz="1600" spc="-1" strike="noStrike">
              <a:solidFill>
                <a:srgbClr val="596b7b"/>
              </a:solidFill>
              <a:latin typeface="Arial"/>
            </a:endParaRPr>
          </a:p>
        </p:txBody>
      </p:sp>
      <p:sp>
        <p:nvSpPr>
          <p:cNvPr id="76" name="Rectangle 8"/>
          <p:cNvSpPr/>
          <p:nvPr/>
        </p:nvSpPr>
        <p:spPr>
          <a:xfrm>
            <a:off x="792000" y="1620000"/>
            <a:ext cx="2808000" cy="936000"/>
          </a:xfrm>
          <a:prstGeom prst="rect">
            <a:avLst/>
          </a:prstGeom>
          <a:solidFill>
            <a:srgbClr val="dcecf2"/>
          </a:solidFill>
          <a:ln>
            <a:noFill/>
          </a:ln>
        </p:spPr>
      </p:sp>
      <p:sp>
        <p:nvSpPr>
          <p:cNvPr id="77" name="Rectangle 9"/>
          <p:cNvSpPr/>
          <p:nvPr/>
        </p:nvSpPr>
        <p:spPr>
          <a:xfrm>
            <a:off x="882000" y="1746000"/>
            <a:ext cx="2628000" cy="198000"/>
          </a:xfrm>
          <a:prstGeom prst="rect">
            <a:avLst/>
          </a:prstGeom>
          <a:noFill/>
          <a:ln>
            <a:noFill/>
          </a:ln>
        </p:spPr>
        <p:txBody>
          <a:bodyPr lIns="0" rIns="0" tIns="0" bIns="0" anchorCtr="1">
            <a:noAutofit/>
          </a:bodyPr>
          <a:p>
            <a:pPr algn="r"/>
            <a:r>
              <a:rPr b="1" lang="en-US" sz="1300" spc="-1" strike="noStrike">
                <a:solidFill>
                  <a:srgbClr val="18324b"/>
                </a:solidFill>
                <a:latin typeface="Arial"/>
              </a:rPr>
              <a:t>EARLY  ·  0–16</a:t>
            </a:r>
            <a:endParaRPr b="1" lang="en-US" sz="1300" spc="-1" strike="noStrike">
              <a:solidFill>
                <a:srgbClr val="18324b"/>
              </a:solidFill>
              <a:latin typeface="Arial"/>
            </a:endParaRPr>
          </a:p>
        </p:txBody>
      </p:sp>
      <p:sp>
        <p:nvSpPr>
          <p:cNvPr id="78" name="Rectangle 10"/>
          <p:cNvSpPr/>
          <p:nvPr/>
        </p:nvSpPr>
        <p:spPr>
          <a:xfrm>
            <a:off x="882000" y="1962000"/>
            <a:ext cx="2628000" cy="360000"/>
          </a:xfrm>
          <a:prstGeom prst="rect">
            <a:avLst/>
          </a:prstGeom>
          <a:noFill/>
          <a:ln>
            <a:noFill/>
          </a:ln>
        </p:spPr>
        <p:txBody>
          <a:bodyPr lIns="0" rIns="0" tIns="0" bIns="0" anchorCtr="1">
            <a:noAutofit/>
          </a:bodyPr>
          <a:p>
            <a:pPr algn="r"/>
            <a:r>
              <a:rPr b="1" lang="en-US" sz="3000" spc="-1" strike="noStrike">
                <a:solidFill>
                  <a:srgbClr val="18324b"/>
                </a:solidFill>
                <a:latin typeface="Arial"/>
              </a:rPr>
              <a:t>1.25</a:t>
            </a:r>
            <a:endParaRPr b="1" lang="en-US" sz="3000" spc="-1" strike="noStrike">
              <a:solidFill>
                <a:srgbClr val="18324b"/>
              </a:solidFill>
              <a:latin typeface="Arial"/>
            </a:endParaRPr>
          </a:p>
        </p:txBody>
      </p:sp>
      <p:sp>
        <p:nvSpPr>
          <p:cNvPr id="79" name="Rectangle 11"/>
          <p:cNvSpPr/>
          <p:nvPr/>
        </p:nvSpPr>
        <p:spPr>
          <a:xfrm>
            <a:off x="4284000" y="1620000"/>
            <a:ext cx="2808000" cy="936000"/>
          </a:xfrm>
          <a:prstGeom prst="rect">
            <a:avLst/>
          </a:prstGeom>
          <a:solidFill>
            <a:srgbClr val="087e8b"/>
          </a:solidFill>
          <a:ln>
            <a:noFill/>
          </a:ln>
        </p:spPr>
      </p:sp>
      <p:sp>
        <p:nvSpPr>
          <p:cNvPr id="80" name="Rectangle 12"/>
          <p:cNvSpPr/>
          <p:nvPr/>
        </p:nvSpPr>
        <p:spPr>
          <a:xfrm>
            <a:off x="4374000" y="1746000"/>
            <a:ext cx="2628000" cy="198000"/>
          </a:xfrm>
          <a:prstGeom prst="rect">
            <a:avLst/>
          </a:prstGeom>
          <a:noFill/>
          <a:ln>
            <a:noFill/>
          </a:ln>
        </p:spPr>
        <p:txBody>
          <a:bodyPr lIns="0" rIns="0" tIns="0" bIns="0" anchorCtr="1">
            <a:noAutofit/>
          </a:bodyPr>
          <a:p>
            <a:pPr algn="r"/>
            <a:r>
              <a:rPr b="1" lang="en-US" sz="1300" spc="-1" strike="noStrike">
                <a:solidFill>
                  <a:srgbClr val="ffffff"/>
                </a:solidFill>
                <a:latin typeface="Arial"/>
              </a:rPr>
              <a:t>MIDDLE  ·  17–32</a:t>
            </a:r>
            <a:endParaRPr b="1" lang="en-US" sz="1300" spc="-1" strike="noStrike">
              <a:solidFill>
                <a:srgbClr val="ffffff"/>
              </a:solidFill>
              <a:latin typeface="Arial"/>
            </a:endParaRPr>
          </a:p>
        </p:txBody>
      </p:sp>
      <p:sp>
        <p:nvSpPr>
          <p:cNvPr id="81" name="Rectangle 13"/>
          <p:cNvSpPr/>
          <p:nvPr/>
        </p:nvSpPr>
        <p:spPr>
          <a:xfrm>
            <a:off x="4374000" y="1962000"/>
            <a:ext cx="2628000" cy="360000"/>
          </a:xfrm>
          <a:prstGeom prst="rect">
            <a:avLst/>
          </a:prstGeom>
          <a:noFill/>
          <a:ln>
            <a:noFill/>
          </a:ln>
        </p:spPr>
        <p:txBody>
          <a:bodyPr lIns="0" rIns="0" tIns="0" bIns="0" anchorCtr="1">
            <a:noAutofit/>
          </a:bodyPr>
          <a:p>
            <a:pPr algn="r"/>
            <a:r>
              <a:rPr b="1" lang="en-US" sz="3000" spc="-1" strike="noStrike">
                <a:solidFill>
                  <a:srgbClr val="ffffff"/>
                </a:solidFill>
                <a:latin typeface="Arial"/>
              </a:rPr>
              <a:t>2.50</a:t>
            </a:r>
            <a:endParaRPr b="1" lang="en-US" sz="3000" spc="-1" strike="noStrike">
              <a:solidFill>
                <a:srgbClr val="ffffff"/>
              </a:solidFill>
              <a:latin typeface="Arial"/>
            </a:endParaRPr>
          </a:p>
        </p:txBody>
      </p:sp>
      <p:sp>
        <p:nvSpPr>
          <p:cNvPr id="82" name="Rectangle 14"/>
          <p:cNvSpPr/>
          <p:nvPr/>
        </p:nvSpPr>
        <p:spPr>
          <a:xfrm>
            <a:off x="7776000" y="1620000"/>
            <a:ext cx="2808000" cy="936000"/>
          </a:xfrm>
          <a:prstGeom prst="rect">
            <a:avLst/>
          </a:prstGeom>
          <a:solidFill>
            <a:srgbClr val="dcecf2"/>
          </a:solidFill>
          <a:ln>
            <a:noFill/>
          </a:ln>
        </p:spPr>
      </p:sp>
      <p:sp>
        <p:nvSpPr>
          <p:cNvPr id="83" name="Rectangle 15"/>
          <p:cNvSpPr/>
          <p:nvPr/>
        </p:nvSpPr>
        <p:spPr>
          <a:xfrm>
            <a:off x="7866000" y="1746000"/>
            <a:ext cx="2628000" cy="198000"/>
          </a:xfrm>
          <a:prstGeom prst="rect">
            <a:avLst/>
          </a:prstGeom>
          <a:noFill/>
          <a:ln>
            <a:noFill/>
          </a:ln>
        </p:spPr>
        <p:txBody>
          <a:bodyPr lIns="0" rIns="0" tIns="0" bIns="0" anchorCtr="1">
            <a:noAutofit/>
          </a:bodyPr>
          <a:p>
            <a:pPr algn="r"/>
            <a:r>
              <a:rPr b="1" lang="en-US" sz="1300" spc="-1" strike="noStrike">
                <a:solidFill>
                  <a:srgbClr val="18324b"/>
                </a:solidFill>
                <a:latin typeface="Arial"/>
              </a:rPr>
              <a:t>LATE  ·  33–49</a:t>
            </a:r>
            <a:endParaRPr b="1" lang="en-US" sz="1300" spc="-1" strike="noStrike">
              <a:solidFill>
                <a:srgbClr val="18324b"/>
              </a:solidFill>
              <a:latin typeface="Arial"/>
            </a:endParaRPr>
          </a:p>
        </p:txBody>
      </p:sp>
      <p:sp>
        <p:nvSpPr>
          <p:cNvPr id="84" name="Rectangle 16"/>
          <p:cNvSpPr/>
          <p:nvPr/>
        </p:nvSpPr>
        <p:spPr>
          <a:xfrm>
            <a:off x="7866000" y="1962000"/>
            <a:ext cx="2628000" cy="360000"/>
          </a:xfrm>
          <a:prstGeom prst="rect">
            <a:avLst/>
          </a:prstGeom>
          <a:noFill/>
          <a:ln>
            <a:noFill/>
          </a:ln>
        </p:spPr>
        <p:txBody>
          <a:bodyPr lIns="0" rIns="0" tIns="0" bIns="0" anchorCtr="1">
            <a:noAutofit/>
          </a:bodyPr>
          <a:p>
            <a:pPr algn="r"/>
            <a:r>
              <a:rPr b="1" lang="en-US" sz="3000" spc="-1" strike="noStrike">
                <a:solidFill>
                  <a:srgbClr val="18324b"/>
                </a:solidFill>
                <a:latin typeface="Arial"/>
              </a:rPr>
              <a:t>1.25</a:t>
            </a:r>
            <a:endParaRPr b="1" lang="en-US" sz="3000" spc="-1" strike="noStrike">
              <a:solidFill>
                <a:srgbClr val="18324b"/>
              </a:solidFill>
              <a:latin typeface="Arial"/>
            </a:endParaRPr>
          </a:p>
        </p:txBody>
      </p:sp>
      <p:sp>
        <p:nvSpPr>
          <p:cNvPr id="85" name="Rectangle 17"/>
          <p:cNvSpPr/>
          <p:nvPr/>
        </p:nvSpPr>
        <p:spPr>
          <a:xfrm>
            <a:off x="792000" y="2772000"/>
            <a:ext cx="10368000" cy="244800"/>
          </a:xfrm>
          <a:prstGeom prst="rect">
            <a:avLst/>
          </a:prstGeom>
          <a:noFill/>
          <a:ln>
            <a:noFill/>
          </a:ln>
        </p:spPr>
        <p:txBody>
          <a:bodyPr lIns="0" rIns="0" tIns="0" bIns="0" anchorCtr="1">
            <a:noAutofit/>
          </a:bodyPr>
          <a:p>
            <a:r>
              <a:rPr b="0" lang="en-US" sz="1600" spc="-1" strike="noStrike">
                <a:solidFill>
                  <a:srgbClr val="243444"/>
                </a:solidFill>
                <a:latin typeface="Arial"/>
              </a:rPr>
              <a:t>Fresh C: deep and middle groups retain the requested profile; shallow requests are capped at 0.80 in every window.</a:t>
            </a:r>
            <a:endParaRPr b="0" lang="en-US" sz="1600" spc="-1" strike="noStrike">
              <a:solidFill>
                <a:srgbClr val="243444"/>
              </a:solidFill>
              <a:latin typeface="Arial"/>
            </a:endParaRPr>
          </a:p>
        </p:txBody>
      </p:sp>
      <p:sp>
        <p:nvSpPr>
          <p:cNvPr id="86" name="Rectangle 18"/>
          <p:cNvSpPr/>
          <p:nvPr/>
        </p:nvSpPr>
        <p:spPr>
          <a:xfrm>
            <a:off x="648000" y="3348000"/>
            <a:ext cx="10800000" cy="1152000"/>
          </a:xfrm>
          <a:prstGeom prst="rect">
            <a:avLst/>
          </a:prstGeom>
          <a:solidFill>
            <a:srgbClr val="e8f1f5"/>
          </a:solidFill>
          <a:ln>
            <a:noFill/>
          </a:ln>
        </p:spPr>
      </p:sp>
      <p:sp>
        <p:nvSpPr>
          <p:cNvPr id="87" name="Rectangle 19"/>
          <p:cNvSpPr/>
          <p:nvPr/>
        </p:nvSpPr>
        <p:spPr>
          <a:xfrm>
            <a:off x="792000" y="3492000"/>
            <a:ext cx="10296000" cy="216000"/>
          </a:xfrm>
          <a:prstGeom prst="rect">
            <a:avLst/>
          </a:prstGeom>
          <a:noFill/>
          <a:ln>
            <a:noFill/>
          </a:ln>
        </p:spPr>
        <p:txBody>
          <a:bodyPr lIns="0" rIns="0" tIns="0" bIns="0" anchorCtr="1">
            <a:noAutofit/>
          </a:bodyPr>
          <a:p>
            <a:r>
              <a:rPr b="1" lang="en-US" sz="1200" spc="-1" strike="noStrike">
                <a:solidFill>
                  <a:srgbClr val="087e8b"/>
                </a:solidFill>
                <a:latin typeface="Arial"/>
              </a:rPr>
              <a:t>THREE DISTINCT QUANTITIES</a:t>
            </a:r>
            <a:endParaRPr b="1" lang="en-US" sz="1200" spc="-1" strike="noStrike">
              <a:solidFill>
                <a:srgbClr val="087e8b"/>
              </a:solidFill>
              <a:latin typeface="Arial"/>
            </a:endParaRPr>
          </a:p>
        </p:txBody>
      </p:sp>
      <p:sp>
        <p:nvSpPr>
          <p:cNvPr id="88" name="Rectangle 20"/>
          <p:cNvSpPr/>
          <p:nvPr/>
        </p:nvSpPr>
        <p:spPr>
          <a:xfrm>
            <a:off x="792000" y="3744000"/>
            <a:ext cx="10296000" cy="576000"/>
          </a:xfrm>
          <a:prstGeom prst="rect">
            <a:avLst/>
          </a:prstGeom>
          <a:noFill/>
          <a:ln>
            <a:noFill/>
          </a:ln>
        </p:spPr>
        <p:txBody>
          <a:bodyPr lIns="0" rIns="0" tIns="0" bIns="0" anchorCtr="1">
            <a:noAutofit/>
          </a:bodyPr>
          <a:p>
            <a:r>
              <a:rPr b="1" lang="en-US" sz="1600" spc="-1" strike="noStrike">
                <a:solidFill>
                  <a:srgbClr val="18324b"/>
                </a:solidFill>
                <a:latin typeface="Arial"/>
              </a:rPr>
              <a:t>Requested scale  →  cap-adjusted applied scale  →  state-dependent residual correction</a:t>
            </a:r>
            <a:endParaRPr b="1" lang="en-US" sz="1600" spc="-1" strike="noStrike">
              <a:solidFill>
                <a:srgbClr val="18324b"/>
              </a:solidFill>
              <a:latin typeface="Arial"/>
            </a:endParaRPr>
          </a:p>
          <a:p>
            <a:endParaRPr b="1" lang="en-US" sz="1600" spc="-1" strike="noStrike">
              <a:solidFill>
                <a:srgbClr val="18324b"/>
              </a:solidFill>
              <a:latin typeface="Arial"/>
            </a:endParaRPr>
          </a:p>
          <a:p>
            <a:r>
              <a:rPr b="1" lang="en-US" sz="1600" spc="-1" strike="noStrike">
                <a:solidFill>
                  <a:srgbClr val="18324b"/>
                </a:solidFill>
                <a:latin typeface="Arial"/>
              </a:rPr>
              <a:t>Equal scalar sums do not imply equal accumulated residual dose.</a:t>
            </a:r>
            <a:endParaRPr b="1" lang="en-US" sz="1600" spc="-1" strike="noStrike">
              <a:solidFill>
                <a:srgbClr val="18324b"/>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Rectangle 1"/>
          <p:cNvSpPr/>
          <p:nvPr/>
        </p:nvSpPr>
        <p:spPr>
          <a:xfrm>
            <a:off x="0" y="0"/>
            <a:ext cx="12192120" cy="6858000"/>
          </a:xfrm>
          <a:prstGeom prst="rect">
            <a:avLst/>
          </a:prstGeom>
          <a:solidFill>
            <a:srgbClr val="f5f8fc"/>
          </a:solidFill>
          <a:ln>
            <a:noFill/>
          </a:ln>
        </p:spPr>
      </p:sp>
      <p:sp>
        <p:nvSpPr>
          <p:cNvPr id="90"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91"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Strong controls revise the interpretation of C3</a:t>
            </a:r>
            <a:endParaRPr b="1" lang="en-US" sz="2700" spc="-1" strike="noStrike">
              <a:solidFill>
                <a:srgbClr val="18324b"/>
              </a:solidFill>
              <a:latin typeface="Arial"/>
            </a:endParaRPr>
          </a:p>
        </p:txBody>
      </p:sp>
      <p:sp>
        <p:nvSpPr>
          <p:cNvPr id="92" name="Rectangle 4"/>
          <p:cNvSpPr/>
          <p:nvPr/>
        </p:nvSpPr>
        <p:spPr>
          <a:xfrm>
            <a:off x="468000" y="6534000"/>
            <a:ext cx="11250000" cy="7920"/>
          </a:xfrm>
          <a:prstGeom prst="rect">
            <a:avLst/>
          </a:prstGeom>
          <a:solidFill>
            <a:srgbClr val="d9e2ea"/>
          </a:solidFill>
          <a:ln>
            <a:noFill/>
          </a:ln>
        </p:spPr>
      </p:sp>
      <p:sp>
        <p:nvSpPr>
          <p:cNvPr id="93"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94"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04 / 10</a:t>
            </a:r>
            <a:endParaRPr b="0" lang="en-US" sz="900" spc="-1" strike="noStrike">
              <a:solidFill>
                <a:srgbClr val="758697"/>
              </a:solidFill>
              <a:latin typeface="Arial"/>
            </a:endParaRPr>
          </a:p>
        </p:txBody>
      </p:sp>
      <p:sp>
        <p:nvSpPr>
          <p:cNvPr id="95" name="Rectangle 7"/>
          <p:cNvSpPr/>
          <p:nvPr/>
        </p:nvSpPr>
        <p:spPr>
          <a:xfrm>
            <a:off x="540000" y="1116000"/>
            <a:ext cx="5112000" cy="216000"/>
          </a:xfrm>
          <a:prstGeom prst="rect">
            <a:avLst/>
          </a:prstGeom>
          <a:noFill/>
          <a:ln>
            <a:noFill/>
          </a:ln>
        </p:spPr>
        <p:txBody>
          <a:bodyPr lIns="0" rIns="0" tIns="0" bIns="0" anchorCtr="1">
            <a:noAutofit/>
          </a:bodyPr>
          <a:p>
            <a:r>
              <a:rPr b="1" lang="en-US" sz="1500" spc="-1" strike="noStrike">
                <a:solidFill>
                  <a:srgbClr val="087e8b"/>
                </a:solidFill>
                <a:latin typeface="Arial"/>
              </a:rPr>
              <a:t>Fresh C · 300 held-out objects</a:t>
            </a:r>
            <a:endParaRPr b="1" lang="en-US" sz="1500" spc="-1" strike="noStrike">
              <a:solidFill>
                <a:srgbClr val="087e8b"/>
              </a:solidFill>
              <a:latin typeface="Arial"/>
            </a:endParaRPr>
          </a:p>
        </p:txBody>
      </p:sp>
      <p:sp>
        <p:nvSpPr>
          <p:cNvPr id="96" name="Rectangle 8"/>
          <p:cNvSpPr/>
          <p:nvPr/>
        </p:nvSpPr>
        <p:spPr>
          <a:xfrm>
            <a:off x="540000" y="1440000"/>
            <a:ext cx="2160000" cy="414000"/>
          </a:xfrm>
          <a:prstGeom prst="rect">
            <a:avLst/>
          </a:prstGeom>
          <a:solidFill>
            <a:srgbClr val="18324b"/>
          </a:solidFill>
          <a:ln>
            <a:noFill/>
          </a:ln>
        </p:spPr>
      </p:sp>
      <p:sp>
        <p:nvSpPr>
          <p:cNvPr id="97" name="Rectangle 9"/>
          <p:cNvSpPr/>
          <p:nvPr/>
        </p:nvSpPr>
        <p:spPr>
          <a:xfrm>
            <a:off x="583200" y="1468800"/>
            <a:ext cx="2073600" cy="360000"/>
          </a:xfrm>
          <a:prstGeom prst="rect">
            <a:avLst/>
          </a:prstGeom>
          <a:noFill/>
          <a:ln>
            <a:noFill/>
          </a:ln>
        </p:spPr>
        <p:txBody>
          <a:bodyPr lIns="0" rIns="0" tIns="0" bIns="0" anchorCtr="1">
            <a:noAutofit/>
          </a:bodyPr>
          <a:p>
            <a:r>
              <a:rPr b="1" lang="en-US" sz="1100" spc="-1" strike="noStrike">
                <a:solidFill>
                  <a:srgbClr val="ffffff"/>
                </a:solidFill>
                <a:latin typeface="Arial"/>
              </a:rPr>
              <a:t>Condition</a:t>
            </a:r>
            <a:endParaRPr b="1" lang="en-US" sz="1100" spc="-1" strike="noStrike">
              <a:solidFill>
                <a:srgbClr val="ffffff"/>
              </a:solidFill>
              <a:latin typeface="Arial"/>
            </a:endParaRPr>
          </a:p>
        </p:txBody>
      </p:sp>
      <p:sp>
        <p:nvSpPr>
          <p:cNvPr id="98" name="Rectangle 10"/>
          <p:cNvSpPr/>
          <p:nvPr/>
        </p:nvSpPr>
        <p:spPr>
          <a:xfrm>
            <a:off x="2700000" y="1440000"/>
            <a:ext cx="1512000" cy="414000"/>
          </a:xfrm>
          <a:prstGeom prst="rect">
            <a:avLst/>
          </a:prstGeom>
          <a:solidFill>
            <a:srgbClr val="18324b"/>
          </a:solidFill>
          <a:ln>
            <a:noFill/>
          </a:ln>
        </p:spPr>
      </p:sp>
      <p:sp>
        <p:nvSpPr>
          <p:cNvPr id="99" name="Rectangle 11"/>
          <p:cNvSpPr/>
          <p:nvPr/>
        </p:nvSpPr>
        <p:spPr>
          <a:xfrm>
            <a:off x="2743200" y="1468800"/>
            <a:ext cx="1425600" cy="360000"/>
          </a:xfrm>
          <a:prstGeom prst="rect">
            <a:avLst/>
          </a:prstGeom>
          <a:noFill/>
          <a:ln>
            <a:noFill/>
          </a:ln>
        </p:spPr>
        <p:txBody>
          <a:bodyPr lIns="0" rIns="0" tIns="0" bIns="0" anchorCtr="1">
            <a:noAutofit/>
          </a:bodyPr>
          <a:p>
            <a:r>
              <a:rPr b="1" lang="en-US" sz="1100" spc="-1" strike="noStrike">
                <a:solidFill>
                  <a:srgbClr val="ffffff"/>
                </a:solidFill>
                <a:latin typeface="Arial"/>
              </a:rPr>
              <a:t>FG-PSNR ↑</a:t>
            </a:r>
            <a:endParaRPr b="1" lang="en-US" sz="1100" spc="-1" strike="noStrike">
              <a:solidFill>
                <a:srgbClr val="ffffff"/>
              </a:solidFill>
              <a:latin typeface="Arial"/>
            </a:endParaRPr>
          </a:p>
        </p:txBody>
      </p:sp>
      <p:sp>
        <p:nvSpPr>
          <p:cNvPr id="100" name="Rectangle 12"/>
          <p:cNvSpPr/>
          <p:nvPr/>
        </p:nvSpPr>
        <p:spPr>
          <a:xfrm>
            <a:off x="4212000" y="1440000"/>
            <a:ext cx="1512000" cy="414000"/>
          </a:xfrm>
          <a:prstGeom prst="rect">
            <a:avLst/>
          </a:prstGeom>
          <a:solidFill>
            <a:srgbClr val="18324b"/>
          </a:solidFill>
          <a:ln>
            <a:noFill/>
          </a:ln>
        </p:spPr>
      </p:sp>
      <p:sp>
        <p:nvSpPr>
          <p:cNvPr id="101" name="Rectangle 13"/>
          <p:cNvSpPr/>
          <p:nvPr/>
        </p:nvSpPr>
        <p:spPr>
          <a:xfrm>
            <a:off x="4255200" y="1468800"/>
            <a:ext cx="1425600" cy="360000"/>
          </a:xfrm>
          <a:prstGeom prst="rect">
            <a:avLst/>
          </a:prstGeom>
          <a:noFill/>
          <a:ln>
            <a:noFill/>
          </a:ln>
        </p:spPr>
        <p:txBody>
          <a:bodyPr lIns="0" rIns="0" tIns="0" bIns="0" anchorCtr="1">
            <a:noAutofit/>
          </a:bodyPr>
          <a:p>
            <a:r>
              <a:rPr b="1" lang="en-US" sz="1100" spc="-1" strike="noStrike">
                <a:solidFill>
                  <a:srgbClr val="ffffff"/>
                </a:solidFill>
                <a:latin typeface="Arial"/>
              </a:rPr>
              <a:t>FG-LPIPS ↓</a:t>
            </a:r>
            <a:endParaRPr b="1" lang="en-US" sz="1100" spc="-1" strike="noStrike">
              <a:solidFill>
                <a:srgbClr val="ffffff"/>
              </a:solidFill>
              <a:latin typeface="Arial"/>
            </a:endParaRPr>
          </a:p>
        </p:txBody>
      </p:sp>
      <p:sp>
        <p:nvSpPr>
          <p:cNvPr id="102" name="Rectangle 14"/>
          <p:cNvSpPr/>
          <p:nvPr/>
        </p:nvSpPr>
        <p:spPr>
          <a:xfrm>
            <a:off x="540000" y="1854000"/>
            <a:ext cx="2160000" cy="414000"/>
          </a:xfrm>
          <a:prstGeom prst="rect">
            <a:avLst/>
          </a:prstGeom>
          <a:solidFill>
            <a:srgbClr val="ffffff"/>
          </a:solidFill>
          <a:ln>
            <a:noFill/>
          </a:ln>
        </p:spPr>
      </p:sp>
      <p:sp>
        <p:nvSpPr>
          <p:cNvPr id="103" name="Rectangle 15"/>
          <p:cNvSpPr/>
          <p:nvPr/>
        </p:nvSpPr>
        <p:spPr>
          <a:xfrm>
            <a:off x="583200" y="1882800"/>
            <a:ext cx="2073600" cy="360000"/>
          </a:xfrm>
          <a:prstGeom prst="rect">
            <a:avLst/>
          </a:prstGeom>
          <a:noFill/>
          <a:ln>
            <a:noFill/>
          </a:ln>
        </p:spPr>
        <p:txBody>
          <a:bodyPr lIns="0" rIns="0" tIns="0" bIns="0" anchorCtr="1">
            <a:noAutofit/>
          </a:bodyPr>
          <a:p>
            <a:r>
              <a:rPr b="0" lang="en-US" sz="1200" spc="-1" strike="noStrike">
                <a:solidFill>
                  <a:srgbClr val="243444"/>
                </a:solidFill>
                <a:latin typeface="Arial"/>
              </a:rPr>
              <a:t>Fixed Low</a:t>
            </a:r>
            <a:endParaRPr b="0" lang="en-US" sz="1200" spc="-1" strike="noStrike">
              <a:solidFill>
                <a:srgbClr val="243444"/>
              </a:solidFill>
              <a:latin typeface="Arial"/>
            </a:endParaRPr>
          </a:p>
        </p:txBody>
      </p:sp>
      <p:sp>
        <p:nvSpPr>
          <p:cNvPr id="104" name="Rectangle 16"/>
          <p:cNvSpPr/>
          <p:nvPr/>
        </p:nvSpPr>
        <p:spPr>
          <a:xfrm>
            <a:off x="2700000" y="1854000"/>
            <a:ext cx="1512000" cy="414000"/>
          </a:xfrm>
          <a:prstGeom prst="rect">
            <a:avLst/>
          </a:prstGeom>
          <a:solidFill>
            <a:srgbClr val="ffffff"/>
          </a:solidFill>
          <a:ln>
            <a:noFill/>
          </a:ln>
        </p:spPr>
      </p:sp>
      <p:sp>
        <p:nvSpPr>
          <p:cNvPr id="105" name="Rectangle 17"/>
          <p:cNvSpPr/>
          <p:nvPr/>
        </p:nvSpPr>
        <p:spPr>
          <a:xfrm>
            <a:off x="2743200" y="1882800"/>
            <a:ext cx="1425600" cy="360000"/>
          </a:xfrm>
          <a:prstGeom prst="rect">
            <a:avLst/>
          </a:prstGeom>
          <a:noFill/>
          <a:ln>
            <a:noFill/>
          </a:ln>
        </p:spPr>
        <p:txBody>
          <a:bodyPr lIns="0" rIns="0" tIns="0" bIns="0" anchorCtr="1">
            <a:noAutofit/>
          </a:bodyPr>
          <a:p>
            <a:r>
              <a:rPr b="0" lang="en-US" sz="1200" spc="-1" strike="noStrike">
                <a:solidFill>
                  <a:srgbClr val="243444"/>
                </a:solidFill>
                <a:latin typeface="Arial"/>
              </a:rPr>
              <a:t>11.31</a:t>
            </a:r>
            <a:endParaRPr b="0" lang="en-US" sz="1200" spc="-1" strike="noStrike">
              <a:solidFill>
                <a:srgbClr val="243444"/>
              </a:solidFill>
              <a:latin typeface="Arial"/>
            </a:endParaRPr>
          </a:p>
        </p:txBody>
      </p:sp>
      <p:sp>
        <p:nvSpPr>
          <p:cNvPr id="106" name="Rectangle 18"/>
          <p:cNvSpPr/>
          <p:nvPr/>
        </p:nvSpPr>
        <p:spPr>
          <a:xfrm>
            <a:off x="4212000" y="1854000"/>
            <a:ext cx="1512000" cy="414000"/>
          </a:xfrm>
          <a:prstGeom prst="rect">
            <a:avLst/>
          </a:prstGeom>
          <a:solidFill>
            <a:srgbClr val="ffffff"/>
          </a:solidFill>
          <a:ln>
            <a:noFill/>
          </a:ln>
        </p:spPr>
      </p:sp>
      <p:sp>
        <p:nvSpPr>
          <p:cNvPr id="107" name="Rectangle 19"/>
          <p:cNvSpPr/>
          <p:nvPr/>
        </p:nvSpPr>
        <p:spPr>
          <a:xfrm>
            <a:off x="4255200" y="1882800"/>
            <a:ext cx="1425600" cy="360000"/>
          </a:xfrm>
          <a:prstGeom prst="rect">
            <a:avLst/>
          </a:prstGeom>
          <a:noFill/>
          <a:ln>
            <a:noFill/>
          </a:ln>
        </p:spPr>
        <p:txBody>
          <a:bodyPr lIns="0" rIns="0" tIns="0" bIns="0" anchorCtr="1">
            <a:noAutofit/>
          </a:bodyPr>
          <a:p>
            <a:r>
              <a:rPr b="0" lang="en-US" sz="1200" spc="-1" strike="noStrike">
                <a:solidFill>
                  <a:srgbClr val="243444"/>
                </a:solidFill>
                <a:latin typeface="Arial"/>
              </a:rPr>
              <a:t>0.2051</a:t>
            </a:r>
            <a:endParaRPr b="0" lang="en-US" sz="1200" spc="-1" strike="noStrike">
              <a:solidFill>
                <a:srgbClr val="243444"/>
              </a:solidFill>
              <a:latin typeface="Arial"/>
            </a:endParaRPr>
          </a:p>
        </p:txBody>
      </p:sp>
      <p:sp>
        <p:nvSpPr>
          <p:cNvPr id="108" name="Rectangle 20"/>
          <p:cNvSpPr/>
          <p:nvPr/>
        </p:nvSpPr>
        <p:spPr>
          <a:xfrm>
            <a:off x="540000" y="2268000"/>
            <a:ext cx="2160000" cy="414000"/>
          </a:xfrm>
          <a:prstGeom prst="rect">
            <a:avLst/>
          </a:prstGeom>
          <a:solidFill>
            <a:srgbClr val="eef3f8"/>
          </a:solidFill>
          <a:ln>
            <a:noFill/>
          </a:ln>
        </p:spPr>
      </p:sp>
      <p:sp>
        <p:nvSpPr>
          <p:cNvPr id="109" name="Rectangle 21"/>
          <p:cNvSpPr/>
          <p:nvPr/>
        </p:nvSpPr>
        <p:spPr>
          <a:xfrm>
            <a:off x="583200" y="2296800"/>
            <a:ext cx="2073600" cy="360000"/>
          </a:xfrm>
          <a:prstGeom prst="rect">
            <a:avLst/>
          </a:prstGeom>
          <a:noFill/>
          <a:ln>
            <a:noFill/>
          </a:ln>
        </p:spPr>
        <p:txBody>
          <a:bodyPr lIns="0" rIns="0" tIns="0" bIns="0" anchorCtr="1">
            <a:noAutofit/>
          </a:bodyPr>
          <a:p>
            <a:r>
              <a:rPr b="1" lang="en-US" sz="1200" spc="-1" strike="noStrike">
                <a:solidFill>
                  <a:srgbClr val="243444"/>
                </a:solidFill>
                <a:latin typeface="Arial"/>
              </a:rPr>
              <a:t>C3 / Middle</a:t>
            </a:r>
            <a:endParaRPr b="1" lang="en-US" sz="1200" spc="-1" strike="noStrike">
              <a:solidFill>
                <a:srgbClr val="243444"/>
              </a:solidFill>
              <a:latin typeface="Arial"/>
            </a:endParaRPr>
          </a:p>
        </p:txBody>
      </p:sp>
      <p:sp>
        <p:nvSpPr>
          <p:cNvPr id="110" name="Rectangle 22"/>
          <p:cNvSpPr/>
          <p:nvPr/>
        </p:nvSpPr>
        <p:spPr>
          <a:xfrm>
            <a:off x="2700000" y="2268000"/>
            <a:ext cx="1512000" cy="414000"/>
          </a:xfrm>
          <a:prstGeom prst="rect">
            <a:avLst/>
          </a:prstGeom>
          <a:solidFill>
            <a:srgbClr val="eef3f8"/>
          </a:solidFill>
          <a:ln>
            <a:noFill/>
          </a:ln>
        </p:spPr>
      </p:sp>
      <p:sp>
        <p:nvSpPr>
          <p:cNvPr id="111" name="Rectangle 23"/>
          <p:cNvSpPr/>
          <p:nvPr/>
        </p:nvSpPr>
        <p:spPr>
          <a:xfrm>
            <a:off x="2743200" y="2296800"/>
            <a:ext cx="1425600" cy="360000"/>
          </a:xfrm>
          <a:prstGeom prst="rect">
            <a:avLst/>
          </a:prstGeom>
          <a:noFill/>
          <a:ln>
            <a:noFill/>
          </a:ln>
        </p:spPr>
        <p:txBody>
          <a:bodyPr lIns="0" rIns="0" tIns="0" bIns="0" anchorCtr="1">
            <a:noAutofit/>
          </a:bodyPr>
          <a:p>
            <a:r>
              <a:rPr b="1" lang="en-US" sz="1200" spc="-1" strike="noStrike">
                <a:solidFill>
                  <a:srgbClr val="243444"/>
                </a:solidFill>
                <a:latin typeface="Arial"/>
              </a:rPr>
              <a:t>11.83</a:t>
            </a:r>
            <a:endParaRPr b="1" lang="en-US" sz="1200" spc="-1" strike="noStrike">
              <a:solidFill>
                <a:srgbClr val="243444"/>
              </a:solidFill>
              <a:latin typeface="Arial"/>
            </a:endParaRPr>
          </a:p>
        </p:txBody>
      </p:sp>
      <p:sp>
        <p:nvSpPr>
          <p:cNvPr id="112" name="Rectangle 24"/>
          <p:cNvSpPr/>
          <p:nvPr/>
        </p:nvSpPr>
        <p:spPr>
          <a:xfrm>
            <a:off x="4212000" y="2268000"/>
            <a:ext cx="1512000" cy="414000"/>
          </a:xfrm>
          <a:prstGeom prst="rect">
            <a:avLst/>
          </a:prstGeom>
          <a:solidFill>
            <a:srgbClr val="eef3f8"/>
          </a:solidFill>
          <a:ln>
            <a:noFill/>
          </a:ln>
        </p:spPr>
      </p:sp>
      <p:sp>
        <p:nvSpPr>
          <p:cNvPr id="113" name="Rectangle 25"/>
          <p:cNvSpPr/>
          <p:nvPr/>
        </p:nvSpPr>
        <p:spPr>
          <a:xfrm>
            <a:off x="4255200" y="2296800"/>
            <a:ext cx="1425600" cy="360000"/>
          </a:xfrm>
          <a:prstGeom prst="rect">
            <a:avLst/>
          </a:prstGeom>
          <a:noFill/>
          <a:ln>
            <a:noFill/>
          </a:ln>
        </p:spPr>
        <p:txBody>
          <a:bodyPr lIns="0" rIns="0" tIns="0" bIns="0" anchorCtr="1">
            <a:noAutofit/>
          </a:bodyPr>
          <a:p>
            <a:r>
              <a:rPr b="1" lang="en-US" sz="1200" spc="-1" strike="noStrike">
                <a:solidFill>
                  <a:srgbClr val="243444"/>
                </a:solidFill>
                <a:latin typeface="Arial"/>
              </a:rPr>
              <a:t>0.1998</a:t>
            </a:r>
            <a:endParaRPr b="1" lang="en-US" sz="1200" spc="-1" strike="noStrike">
              <a:solidFill>
                <a:srgbClr val="243444"/>
              </a:solidFill>
              <a:latin typeface="Arial"/>
            </a:endParaRPr>
          </a:p>
        </p:txBody>
      </p:sp>
      <p:sp>
        <p:nvSpPr>
          <p:cNvPr id="114" name="Rectangle 26"/>
          <p:cNvSpPr/>
          <p:nvPr/>
        </p:nvSpPr>
        <p:spPr>
          <a:xfrm>
            <a:off x="540000" y="2682000"/>
            <a:ext cx="2160000" cy="414000"/>
          </a:xfrm>
          <a:prstGeom prst="rect">
            <a:avLst/>
          </a:prstGeom>
          <a:solidFill>
            <a:srgbClr val="ffffff"/>
          </a:solidFill>
          <a:ln>
            <a:noFill/>
          </a:ln>
        </p:spPr>
      </p:sp>
      <p:sp>
        <p:nvSpPr>
          <p:cNvPr id="115" name="Rectangle 27"/>
          <p:cNvSpPr/>
          <p:nvPr/>
        </p:nvSpPr>
        <p:spPr>
          <a:xfrm>
            <a:off x="583200" y="2710800"/>
            <a:ext cx="2073600" cy="360000"/>
          </a:xfrm>
          <a:prstGeom prst="rect">
            <a:avLst/>
          </a:prstGeom>
          <a:noFill/>
          <a:ln>
            <a:noFill/>
          </a:ln>
        </p:spPr>
        <p:txBody>
          <a:bodyPr lIns="0" rIns="0" tIns="0" bIns="0" anchorCtr="1">
            <a:noAutofit/>
          </a:bodyPr>
          <a:p>
            <a:r>
              <a:rPr b="0" lang="en-US" sz="1200" spc="-1" strike="noStrike">
                <a:solidFill>
                  <a:srgbClr val="243444"/>
                </a:solidFill>
                <a:latin typeface="Arial"/>
              </a:rPr>
              <a:t>Fixed High</a:t>
            </a:r>
            <a:endParaRPr b="0" lang="en-US" sz="1200" spc="-1" strike="noStrike">
              <a:solidFill>
                <a:srgbClr val="243444"/>
              </a:solidFill>
              <a:latin typeface="Arial"/>
            </a:endParaRPr>
          </a:p>
        </p:txBody>
      </p:sp>
      <p:sp>
        <p:nvSpPr>
          <p:cNvPr id="116" name="Rectangle 28"/>
          <p:cNvSpPr/>
          <p:nvPr/>
        </p:nvSpPr>
        <p:spPr>
          <a:xfrm>
            <a:off x="2700000" y="2682000"/>
            <a:ext cx="1512000" cy="414000"/>
          </a:xfrm>
          <a:prstGeom prst="rect">
            <a:avLst/>
          </a:prstGeom>
          <a:solidFill>
            <a:srgbClr val="ffffff"/>
          </a:solidFill>
          <a:ln>
            <a:noFill/>
          </a:ln>
        </p:spPr>
      </p:sp>
      <p:sp>
        <p:nvSpPr>
          <p:cNvPr id="117" name="Rectangle 29"/>
          <p:cNvSpPr/>
          <p:nvPr/>
        </p:nvSpPr>
        <p:spPr>
          <a:xfrm>
            <a:off x="2743200" y="2710800"/>
            <a:ext cx="1425600" cy="360000"/>
          </a:xfrm>
          <a:prstGeom prst="rect">
            <a:avLst/>
          </a:prstGeom>
          <a:noFill/>
          <a:ln>
            <a:noFill/>
          </a:ln>
        </p:spPr>
        <p:txBody>
          <a:bodyPr lIns="0" rIns="0" tIns="0" bIns="0" anchorCtr="1">
            <a:noAutofit/>
          </a:bodyPr>
          <a:p>
            <a:r>
              <a:rPr b="0" lang="en-US" sz="1200" spc="-1" strike="noStrike">
                <a:solidFill>
                  <a:srgbClr val="243444"/>
                </a:solidFill>
                <a:latin typeface="Arial"/>
              </a:rPr>
              <a:t>12.58</a:t>
            </a:r>
            <a:endParaRPr b="0" lang="en-US" sz="1200" spc="-1" strike="noStrike">
              <a:solidFill>
                <a:srgbClr val="243444"/>
              </a:solidFill>
              <a:latin typeface="Arial"/>
            </a:endParaRPr>
          </a:p>
        </p:txBody>
      </p:sp>
      <p:sp>
        <p:nvSpPr>
          <p:cNvPr id="118" name="Rectangle 30"/>
          <p:cNvSpPr/>
          <p:nvPr/>
        </p:nvSpPr>
        <p:spPr>
          <a:xfrm>
            <a:off x="4212000" y="2682000"/>
            <a:ext cx="1512000" cy="414000"/>
          </a:xfrm>
          <a:prstGeom prst="rect">
            <a:avLst/>
          </a:prstGeom>
          <a:solidFill>
            <a:srgbClr val="ffffff"/>
          </a:solidFill>
          <a:ln>
            <a:noFill/>
          </a:ln>
        </p:spPr>
      </p:sp>
      <p:sp>
        <p:nvSpPr>
          <p:cNvPr id="119" name="Rectangle 31"/>
          <p:cNvSpPr/>
          <p:nvPr/>
        </p:nvSpPr>
        <p:spPr>
          <a:xfrm>
            <a:off x="4255200" y="2710800"/>
            <a:ext cx="1425600" cy="360000"/>
          </a:xfrm>
          <a:prstGeom prst="rect">
            <a:avLst/>
          </a:prstGeom>
          <a:noFill/>
          <a:ln>
            <a:noFill/>
          </a:ln>
        </p:spPr>
        <p:txBody>
          <a:bodyPr lIns="0" rIns="0" tIns="0" bIns="0" anchorCtr="1">
            <a:noAutofit/>
          </a:bodyPr>
          <a:p>
            <a:r>
              <a:rPr b="0" lang="en-US" sz="1200" spc="-1" strike="noStrike">
                <a:solidFill>
                  <a:srgbClr val="243444"/>
                </a:solidFill>
                <a:latin typeface="Arial"/>
              </a:rPr>
              <a:t>0.1891</a:t>
            </a:r>
            <a:endParaRPr b="0" lang="en-US" sz="1200" spc="-1" strike="noStrike">
              <a:solidFill>
                <a:srgbClr val="243444"/>
              </a:solidFill>
              <a:latin typeface="Arial"/>
            </a:endParaRPr>
          </a:p>
        </p:txBody>
      </p:sp>
      <p:sp>
        <p:nvSpPr>
          <p:cNvPr id="120" name="Rectangle 32"/>
          <p:cNvSpPr/>
          <p:nvPr/>
        </p:nvSpPr>
        <p:spPr>
          <a:xfrm>
            <a:off x="540000" y="3096000"/>
            <a:ext cx="2160000" cy="414000"/>
          </a:xfrm>
          <a:prstGeom prst="rect">
            <a:avLst/>
          </a:prstGeom>
          <a:solidFill>
            <a:srgbClr val="eef3f8"/>
          </a:solidFill>
          <a:ln>
            <a:noFill/>
          </a:ln>
        </p:spPr>
      </p:sp>
      <p:sp>
        <p:nvSpPr>
          <p:cNvPr id="121" name="Rectangle 33"/>
          <p:cNvSpPr/>
          <p:nvPr/>
        </p:nvSpPr>
        <p:spPr>
          <a:xfrm>
            <a:off x="583200" y="3124800"/>
            <a:ext cx="2073600" cy="360000"/>
          </a:xfrm>
          <a:prstGeom prst="rect">
            <a:avLst/>
          </a:prstGeom>
          <a:noFill/>
          <a:ln>
            <a:noFill/>
          </a:ln>
        </p:spPr>
        <p:txBody>
          <a:bodyPr lIns="0" rIns="0" tIns="0" bIns="0" anchorCtr="1">
            <a:noAutofit/>
          </a:bodyPr>
          <a:p>
            <a:r>
              <a:rPr b="0" lang="en-US" sz="1200" spc="-1" strike="noStrike">
                <a:solidFill>
                  <a:srgbClr val="243444"/>
                </a:solidFill>
                <a:latin typeface="Arial"/>
              </a:rPr>
              <a:t>Generic Linear</a:t>
            </a:r>
            <a:endParaRPr b="0" lang="en-US" sz="1200" spc="-1" strike="noStrike">
              <a:solidFill>
                <a:srgbClr val="243444"/>
              </a:solidFill>
              <a:latin typeface="Arial"/>
            </a:endParaRPr>
          </a:p>
        </p:txBody>
      </p:sp>
      <p:sp>
        <p:nvSpPr>
          <p:cNvPr id="122" name="Rectangle 34"/>
          <p:cNvSpPr/>
          <p:nvPr/>
        </p:nvSpPr>
        <p:spPr>
          <a:xfrm>
            <a:off x="2700000" y="3096000"/>
            <a:ext cx="1512000" cy="414000"/>
          </a:xfrm>
          <a:prstGeom prst="rect">
            <a:avLst/>
          </a:prstGeom>
          <a:solidFill>
            <a:srgbClr val="eef3f8"/>
          </a:solidFill>
          <a:ln>
            <a:noFill/>
          </a:ln>
        </p:spPr>
      </p:sp>
      <p:sp>
        <p:nvSpPr>
          <p:cNvPr id="123" name="Rectangle 35"/>
          <p:cNvSpPr/>
          <p:nvPr/>
        </p:nvSpPr>
        <p:spPr>
          <a:xfrm>
            <a:off x="2743200" y="3124800"/>
            <a:ext cx="1425600" cy="360000"/>
          </a:xfrm>
          <a:prstGeom prst="rect">
            <a:avLst/>
          </a:prstGeom>
          <a:noFill/>
          <a:ln>
            <a:noFill/>
          </a:ln>
        </p:spPr>
        <p:txBody>
          <a:bodyPr lIns="0" rIns="0" tIns="0" bIns="0" anchorCtr="1">
            <a:noAutofit/>
          </a:bodyPr>
          <a:p>
            <a:r>
              <a:rPr b="0" lang="en-US" sz="1200" spc="-1" strike="noStrike">
                <a:solidFill>
                  <a:srgbClr val="243444"/>
                </a:solidFill>
                <a:latin typeface="Arial"/>
              </a:rPr>
              <a:t>12.42</a:t>
            </a:r>
            <a:endParaRPr b="0" lang="en-US" sz="1200" spc="-1" strike="noStrike">
              <a:solidFill>
                <a:srgbClr val="243444"/>
              </a:solidFill>
              <a:latin typeface="Arial"/>
            </a:endParaRPr>
          </a:p>
        </p:txBody>
      </p:sp>
      <p:sp>
        <p:nvSpPr>
          <p:cNvPr id="124" name="Rectangle 36"/>
          <p:cNvSpPr/>
          <p:nvPr/>
        </p:nvSpPr>
        <p:spPr>
          <a:xfrm>
            <a:off x="4212000" y="3096000"/>
            <a:ext cx="1512000" cy="414000"/>
          </a:xfrm>
          <a:prstGeom prst="rect">
            <a:avLst/>
          </a:prstGeom>
          <a:solidFill>
            <a:srgbClr val="eef3f8"/>
          </a:solidFill>
          <a:ln>
            <a:noFill/>
          </a:ln>
        </p:spPr>
      </p:sp>
      <p:sp>
        <p:nvSpPr>
          <p:cNvPr id="125" name="Rectangle 37"/>
          <p:cNvSpPr/>
          <p:nvPr/>
        </p:nvSpPr>
        <p:spPr>
          <a:xfrm>
            <a:off x="4255200" y="3124800"/>
            <a:ext cx="1425600" cy="360000"/>
          </a:xfrm>
          <a:prstGeom prst="rect">
            <a:avLst/>
          </a:prstGeom>
          <a:noFill/>
          <a:ln>
            <a:noFill/>
          </a:ln>
        </p:spPr>
        <p:txBody>
          <a:bodyPr lIns="0" rIns="0" tIns="0" bIns="0" anchorCtr="1">
            <a:noAutofit/>
          </a:bodyPr>
          <a:p>
            <a:r>
              <a:rPr b="0" lang="en-US" sz="1200" spc="-1" strike="noStrike">
                <a:solidFill>
                  <a:srgbClr val="243444"/>
                </a:solidFill>
                <a:latin typeface="Arial"/>
              </a:rPr>
              <a:t>0.1862</a:t>
            </a:r>
            <a:endParaRPr b="0" lang="en-US" sz="1200" spc="-1" strike="noStrike">
              <a:solidFill>
                <a:srgbClr val="243444"/>
              </a:solidFill>
              <a:latin typeface="Arial"/>
            </a:endParaRPr>
          </a:p>
        </p:txBody>
      </p:sp>
      <p:sp>
        <p:nvSpPr>
          <p:cNvPr id="126" name="Rectangle 38"/>
          <p:cNvSpPr/>
          <p:nvPr/>
        </p:nvSpPr>
        <p:spPr>
          <a:xfrm>
            <a:off x="540000" y="3564000"/>
            <a:ext cx="5184000" cy="756000"/>
          </a:xfrm>
          <a:prstGeom prst="rect">
            <a:avLst/>
          </a:prstGeom>
          <a:noFill/>
          <a:ln>
            <a:noFill/>
          </a:ln>
        </p:spPr>
        <p:txBody>
          <a:bodyPr lIns="0" rIns="0" tIns="0" bIns="0" anchorCtr="1">
            <a:noAutofit/>
          </a:bodyPr>
          <a:p>
            <a:r>
              <a:rPr b="0" lang="en-US" sz="1400" spc="-1" strike="noStrike">
                <a:solidFill>
                  <a:srgbClr val="243444"/>
                </a:solidFill>
                <a:latin typeface="Arial"/>
              </a:rPr>
              <a:t>C3 − Fixed Low: +0.522 dB FG-PSNR, while deep/middle applied sums rise from 62.5 to 82.5.</a:t>
            </a:r>
            <a:endParaRPr b="0" lang="en-US" sz="1400" spc="-1" strike="noStrike">
              <a:solidFill>
                <a:srgbClr val="243444"/>
              </a:solidFill>
              <a:latin typeface="Arial"/>
            </a:endParaRPr>
          </a:p>
          <a:p>
            <a:endParaRPr b="0" lang="en-US" sz="1400" spc="-1" strike="noStrike">
              <a:solidFill>
                <a:srgbClr val="243444"/>
              </a:solidFill>
              <a:latin typeface="Arial"/>
            </a:endParaRPr>
          </a:p>
          <a:p>
            <a:r>
              <a:rPr b="0" lang="en-US" sz="1400" spc="-1" strike="noStrike">
                <a:solidFill>
                  <a:srgbClr val="243444"/>
                </a:solidFill>
                <a:latin typeface="Arial"/>
              </a:rPr>
              <a:t>Fixed High and Generic Linear have better means than C3 on all four image endpoints.</a:t>
            </a:r>
            <a:endParaRPr b="0" lang="en-US" sz="1400" spc="-1" strike="noStrike">
              <a:solidFill>
                <a:srgbClr val="243444"/>
              </a:solidFill>
              <a:latin typeface="Arial"/>
            </a:endParaRPr>
          </a:p>
        </p:txBody>
      </p:sp>
      <p:sp>
        <p:nvSpPr>
          <p:cNvPr id="127" name="Rectangle 39"/>
          <p:cNvSpPr/>
          <p:nvPr/>
        </p:nvSpPr>
        <p:spPr>
          <a:xfrm>
            <a:off x="6120000" y="1080000"/>
            <a:ext cx="5400000" cy="162000"/>
          </a:xfrm>
          <a:prstGeom prst="rect">
            <a:avLst/>
          </a:prstGeom>
          <a:noFill/>
          <a:ln>
            <a:noFill/>
          </a:ln>
        </p:spPr>
        <p:txBody>
          <a:bodyPr lIns="0" rIns="0" tIns="0" bIns="0" anchorCtr="1">
            <a:noAutofit/>
          </a:bodyPr>
          <a:p>
            <a:r>
              <a:rPr b="0" lang="en-US" sz="1100" spc="-1" strike="noStrike">
                <a:solidFill>
                  <a:srgbClr val="596b7b"/>
                </a:solidFill>
                <a:latin typeface="Arial"/>
              </a:rPr>
              <a:t>Same target, five conditions, three display objects</a:t>
            </a:r>
            <a:endParaRPr b="0" lang="en-US" sz="1100" spc="-1" strike="noStrike">
              <a:solidFill>
                <a:srgbClr val="596b7b"/>
              </a:solidFill>
              <a:latin typeface="Arial"/>
            </a:endParaRPr>
          </a:p>
        </p:txBody>
      </p:sp>
      <p:pic>
        <p:nvPicPr>
          <p:cNvPr id="128" name="" descr=""/>
          <p:cNvPicPr/>
          <p:nvPr/>
        </p:nvPicPr>
        <p:blipFill>
          <a:blip r:embed="rId1"/>
          <a:stretch/>
        </p:blipFill>
        <p:spPr>
          <a:xfrm>
            <a:off x="6048000" y="1314000"/>
            <a:ext cx="5688000" cy="3852000"/>
          </a:xfrm>
          <a:prstGeom prst="rect">
            <a:avLst/>
          </a:prstGeom>
          <a:ln>
            <a:noFill/>
          </a:ln>
        </p:spPr>
      </p:pic>
      <p:sp>
        <p:nvSpPr>
          <p:cNvPr id="129" name="Rectangle 40"/>
          <p:cNvSpPr/>
          <p:nvPr/>
        </p:nvSpPr>
        <p:spPr>
          <a:xfrm>
            <a:off x="6048000" y="5292000"/>
            <a:ext cx="5688000" cy="252000"/>
          </a:xfrm>
          <a:prstGeom prst="rect">
            <a:avLst/>
          </a:prstGeom>
          <a:noFill/>
          <a:ln>
            <a:noFill/>
          </a:ln>
        </p:spPr>
        <p:txBody>
          <a:bodyPr lIns="0" rIns="0" tIns="0" bIns="0" anchorCtr="1">
            <a:noAutofit/>
          </a:bodyPr>
          <a:p>
            <a:r>
              <a:rPr b="0" lang="en-US" sz="1000" spc="-1" strike="noStrike">
                <a:solidFill>
                  <a:srgbClr val="596b7b"/>
                </a:solidFill>
                <a:latin typeface="Arial"/>
              </a:rPr>
              <a:t>Examples illustrate condition differences; they do not estimate population performance.</a:t>
            </a:r>
            <a:endParaRPr b="0" lang="en-US" sz="1000" spc="-1" strike="noStrike">
              <a:solidFill>
                <a:srgbClr val="596b7b"/>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Rectangle 1"/>
          <p:cNvSpPr/>
          <p:nvPr/>
        </p:nvSpPr>
        <p:spPr>
          <a:xfrm>
            <a:off x="0" y="0"/>
            <a:ext cx="12192120" cy="6858000"/>
          </a:xfrm>
          <a:prstGeom prst="rect">
            <a:avLst/>
          </a:prstGeom>
          <a:solidFill>
            <a:srgbClr val="f5f8fc"/>
          </a:solidFill>
          <a:ln>
            <a:noFill/>
          </a:ln>
        </p:spPr>
      </p:sp>
      <p:sp>
        <p:nvSpPr>
          <p:cNvPr id="131"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132"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Matched applied-scale budgets detect no middle-window advantage</a:t>
            </a:r>
            <a:endParaRPr b="1" lang="en-US" sz="2700" spc="-1" strike="noStrike">
              <a:solidFill>
                <a:srgbClr val="18324b"/>
              </a:solidFill>
              <a:latin typeface="Arial"/>
            </a:endParaRPr>
          </a:p>
        </p:txBody>
      </p:sp>
      <p:sp>
        <p:nvSpPr>
          <p:cNvPr id="133" name="Rectangle 4"/>
          <p:cNvSpPr/>
          <p:nvPr/>
        </p:nvSpPr>
        <p:spPr>
          <a:xfrm>
            <a:off x="468000" y="6534000"/>
            <a:ext cx="11250000" cy="7920"/>
          </a:xfrm>
          <a:prstGeom prst="rect">
            <a:avLst/>
          </a:prstGeom>
          <a:solidFill>
            <a:srgbClr val="d9e2ea"/>
          </a:solidFill>
          <a:ln>
            <a:noFill/>
          </a:ln>
        </p:spPr>
      </p:sp>
      <p:sp>
        <p:nvSpPr>
          <p:cNvPr id="134"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135"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05 / 10</a:t>
            </a:r>
            <a:endParaRPr b="0" lang="en-US" sz="900" spc="-1" strike="noStrike">
              <a:solidFill>
                <a:srgbClr val="758697"/>
              </a:solidFill>
              <a:latin typeface="Arial"/>
            </a:endParaRPr>
          </a:p>
        </p:txBody>
      </p:sp>
      <p:sp>
        <p:nvSpPr>
          <p:cNvPr id="136" name="Rectangle 7"/>
          <p:cNvSpPr/>
          <p:nvPr/>
        </p:nvSpPr>
        <p:spPr>
          <a:xfrm>
            <a:off x="540000" y="1134000"/>
            <a:ext cx="10800000" cy="234000"/>
          </a:xfrm>
          <a:prstGeom prst="rect">
            <a:avLst/>
          </a:prstGeom>
          <a:noFill/>
          <a:ln>
            <a:noFill/>
          </a:ln>
        </p:spPr>
        <p:txBody>
          <a:bodyPr lIns="0" rIns="0" tIns="0" bIns="0" anchorCtr="1">
            <a:noAutofit/>
          </a:bodyPr>
          <a:p>
            <a:r>
              <a:rPr b="1" lang="en-US" sz="1500" spc="-1" strike="noStrike">
                <a:solidFill>
                  <a:srgbClr val="087e8b"/>
                </a:solidFill>
                <a:latin typeface="Arial"/>
              </a:rPr>
              <a:t>Fresh C · N = 300 · per-group applied-scale sums = 82.5 / 82.5 / 40</a:t>
            </a:r>
            <a:endParaRPr b="1" lang="en-US" sz="1500" spc="-1" strike="noStrike">
              <a:solidFill>
                <a:srgbClr val="087e8b"/>
              </a:solidFill>
              <a:latin typeface="Arial"/>
            </a:endParaRPr>
          </a:p>
        </p:txBody>
      </p:sp>
      <p:sp>
        <p:nvSpPr>
          <p:cNvPr id="137" name="Rectangle 8"/>
          <p:cNvSpPr/>
          <p:nvPr/>
        </p:nvSpPr>
        <p:spPr>
          <a:xfrm>
            <a:off x="6113520" y="1728000"/>
            <a:ext cx="12960" cy="1332000"/>
          </a:xfrm>
          <a:prstGeom prst="rect">
            <a:avLst/>
          </a:prstGeom>
          <a:solidFill>
            <a:srgbClr val="b7c3ce"/>
          </a:solidFill>
          <a:ln>
            <a:noFill/>
          </a:ln>
        </p:spPr>
      </p:sp>
      <p:sp>
        <p:nvSpPr>
          <p:cNvPr id="138" name="Rectangle 9"/>
          <p:cNvSpPr/>
          <p:nvPr/>
        </p:nvSpPr>
        <p:spPr>
          <a:xfrm>
            <a:off x="2744640" y="2196000"/>
            <a:ext cx="4855680" cy="90000"/>
          </a:xfrm>
          <a:prstGeom prst="rect">
            <a:avLst/>
          </a:prstGeom>
          <a:solidFill>
            <a:srgbClr val="2f6bce"/>
          </a:solidFill>
          <a:ln>
            <a:noFill/>
          </a:ln>
        </p:spPr>
      </p:sp>
      <p:sp>
        <p:nvSpPr>
          <p:cNvPr id="139" name="Rectangle 10"/>
          <p:cNvSpPr/>
          <p:nvPr/>
        </p:nvSpPr>
        <p:spPr>
          <a:xfrm>
            <a:off x="2732040" y="2152800"/>
            <a:ext cx="25200" cy="180000"/>
          </a:xfrm>
          <a:prstGeom prst="rect">
            <a:avLst/>
          </a:prstGeom>
          <a:solidFill>
            <a:srgbClr val="2f6bce"/>
          </a:solidFill>
          <a:ln>
            <a:noFill/>
          </a:ln>
        </p:spPr>
      </p:sp>
      <p:sp>
        <p:nvSpPr>
          <p:cNvPr id="140" name="Rectangle 11"/>
          <p:cNvSpPr/>
          <p:nvPr/>
        </p:nvSpPr>
        <p:spPr>
          <a:xfrm>
            <a:off x="7587720" y="2152800"/>
            <a:ext cx="25200" cy="180000"/>
          </a:xfrm>
          <a:prstGeom prst="rect">
            <a:avLst/>
          </a:prstGeom>
          <a:solidFill>
            <a:srgbClr val="2f6bce"/>
          </a:solidFill>
          <a:ln>
            <a:noFill/>
          </a:ln>
        </p:spPr>
      </p:sp>
      <p:sp>
        <p:nvSpPr>
          <p:cNvPr id="141" name="Rectangle 12"/>
          <p:cNvSpPr/>
          <p:nvPr/>
        </p:nvSpPr>
        <p:spPr>
          <a:xfrm>
            <a:off x="5086080" y="2138400"/>
            <a:ext cx="115200" cy="205200"/>
          </a:xfrm>
          <a:prstGeom prst="rect">
            <a:avLst/>
          </a:prstGeom>
          <a:solidFill>
            <a:srgbClr val="087e8b"/>
          </a:solidFill>
          <a:ln>
            <a:noFill/>
          </a:ln>
        </p:spPr>
      </p:sp>
      <p:sp>
        <p:nvSpPr>
          <p:cNvPr id="142" name="Rectangle 13"/>
          <p:cNvSpPr/>
          <p:nvPr/>
        </p:nvSpPr>
        <p:spPr>
          <a:xfrm>
            <a:off x="1638000" y="1836000"/>
            <a:ext cx="468000" cy="216000"/>
          </a:xfrm>
          <a:prstGeom prst="rect">
            <a:avLst/>
          </a:prstGeom>
          <a:noFill/>
          <a:ln>
            <a:noFill/>
          </a:ln>
        </p:spPr>
        <p:txBody>
          <a:bodyPr lIns="0" rIns="0" tIns="0" bIns="0" anchorCtr="1">
            <a:noAutofit/>
          </a:bodyPr>
          <a:p>
            <a:pPr algn="r"/>
            <a:r>
              <a:rPr b="0" lang="en-US" sz="1100" spc="-1" strike="noStrike">
                <a:solidFill>
                  <a:srgbClr val="596b7b"/>
                </a:solidFill>
                <a:latin typeface="Arial"/>
              </a:rPr>
              <a:t>−</a:t>
            </a:r>
            <a:r>
              <a:rPr b="0" lang="en-US" sz="1100" spc="-1" strike="noStrike">
                <a:solidFill>
                  <a:srgbClr val="596b7b"/>
                </a:solidFill>
                <a:latin typeface="Arial"/>
              </a:rPr>
              <a:t>0.15</a:t>
            </a:r>
            <a:endParaRPr b="0" lang="en-US" sz="1100" spc="-1" strike="noStrike">
              <a:solidFill>
                <a:srgbClr val="596b7b"/>
              </a:solidFill>
              <a:latin typeface="Arial"/>
            </a:endParaRPr>
          </a:p>
        </p:txBody>
      </p:sp>
      <p:sp>
        <p:nvSpPr>
          <p:cNvPr id="143" name="Rectangle 14"/>
          <p:cNvSpPr/>
          <p:nvPr/>
        </p:nvSpPr>
        <p:spPr>
          <a:xfrm>
            <a:off x="5940000" y="1836000"/>
            <a:ext cx="360000" cy="216000"/>
          </a:xfrm>
          <a:prstGeom prst="rect">
            <a:avLst/>
          </a:prstGeom>
          <a:noFill/>
          <a:ln>
            <a:noFill/>
          </a:ln>
        </p:spPr>
        <p:txBody>
          <a:bodyPr lIns="0" rIns="0" tIns="0" bIns="0" anchorCtr="1">
            <a:noAutofit/>
          </a:bodyPr>
          <a:p>
            <a:pPr algn="r"/>
            <a:r>
              <a:rPr b="0" lang="en-US" sz="1100" spc="-1" strike="noStrike">
                <a:solidFill>
                  <a:srgbClr val="596b7b"/>
                </a:solidFill>
                <a:latin typeface="Arial"/>
              </a:rPr>
              <a:t>0</a:t>
            </a:r>
            <a:endParaRPr b="0" lang="en-US" sz="1100" spc="-1" strike="noStrike">
              <a:solidFill>
                <a:srgbClr val="596b7b"/>
              </a:solidFill>
              <a:latin typeface="Arial"/>
            </a:endParaRPr>
          </a:p>
        </p:txBody>
      </p:sp>
      <p:sp>
        <p:nvSpPr>
          <p:cNvPr id="144" name="Rectangle 15"/>
          <p:cNvSpPr/>
          <p:nvPr/>
        </p:nvSpPr>
        <p:spPr>
          <a:xfrm>
            <a:off x="10134000" y="1836000"/>
            <a:ext cx="468000" cy="216000"/>
          </a:xfrm>
          <a:prstGeom prst="rect">
            <a:avLst/>
          </a:prstGeom>
          <a:noFill/>
          <a:ln>
            <a:noFill/>
          </a:ln>
        </p:spPr>
        <p:txBody>
          <a:bodyPr lIns="0" rIns="0" tIns="0" bIns="0" anchorCtr="1">
            <a:noAutofit/>
          </a:bodyPr>
          <a:p>
            <a:pPr algn="r"/>
            <a:r>
              <a:rPr b="0" lang="en-US" sz="1100" spc="-1" strike="noStrike">
                <a:solidFill>
                  <a:srgbClr val="596b7b"/>
                </a:solidFill>
                <a:latin typeface="Arial"/>
              </a:rPr>
              <a:t>+0.15</a:t>
            </a:r>
            <a:endParaRPr b="0" lang="en-US" sz="1100" spc="-1" strike="noStrike">
              <a:solidFill>
                <a:srgbClr val="596b7b"/>
              </a:solidFill>
              <a:latin typeface="Arial"/>
            </a:endParaRPr>
          </a:p>
        </p:txBody>
      </p:sp>
      <p:sp>
        <p:nvSpPr>
          <p:cNvPr id="145" name="Rectangle 16"/>
          <p:cNvSpPr/>
          <p:nvPr/>
        </p:nvSpPr>
        <p:spPr>
          <a:xfrm>
            <a:off x="1872000" y="2466000"/>
            <a:ext cx="8496000" cy="216000"/>
          </a:xfrm>
          <a:prstGeom prst="rect">
            <a:avLst/>
          </a:prstGeom>
          <a:noFill/>
          <a:ln>
            <a:noFill/>
          </a:ln>
        </p:spPr>
        <p:txBody>
          <a:bodyPr lIns="0" rIns="0" tIns="0" bIns="0" anchorCtr="1">
            <a:noAutofit/>
          </a:bodyPr>
          <a:p>
            <a:pPr algn="r"/>
            <a:r>
              <a:rPr b="0" lang="en-US" sz="1300" spc="-1" strike="noStrike">
                <a:solidFill>
                  <a:srgbClr val="596b7b"/>
                </a:solidFill>
                <a:latin typeface="Arial"/>
              </a:rPr>
              <a:t>Middle-high − mean(Early-high, Late-high) FG-PSNR (dB)</a:t>
            </a:r>
            <a:endParaRPr b="0" lang="en-US" sz="1300" spc="-1" strike="noStrike">
              <a:solidFill>
                <a:srgbClr val="596b7b"/>
              </a:solidFill>
              <a:latin typeface="Arial"/>
            </a:endParaRPr>
          </a:p>
        </p:txBody>
      </p:sp>
      <p:sp>
        <p:nvSpPr>
          <p:cNvPr id="146" name="Rectangle 17"/>
          <p:cNvSpPr/>
          <p:nvPr/>
        </p:nvSpPr>
        <p:spPr>
          <a:xfrm>
            <a:off x="792000" y="3744000"/>
            <a:ext cx="10260000" cy="324000"/>
          </a:xfrm>
          <a:prstGeom prst="rect">
            <a:avLst/>
          </a:prstGeom>
          <a:noFill/>
          <a:ln>
            <a:noFill/>
          </a:ln>
        </p:spPr>
        <p:txBody>
          <a:bodyPr lIns="0" rIns="0" tIns="0" bIns="0" anchorCtr="1">
            <a:noAutofit/>
          </a:bodyPr>
          <a:p>
            <a:pPr algn="r"/>
            <a:r>
              <a:rPr b="1" lang="en-US" sz="2100" spc="-1" strike="noStrike">
                <a:solidFill>
                  <a:srgbClr val="18324b"/>
                </a:solidFill>
                <a:latin typeface="Arial"/>
              </a:rPr>
              <a:t>−</a:t>
            </a:r>
            <a:r>
              <a:rPr b="1" lang="en-US" sz="2100" spc="-1" strike="noStrike">
                <a:solidFill>
                  <a:srgbClr val="18324b"/>
                </a:solidFill>
                <a:latin typeface="Arial"/>
              </a:rPr>
              <a:t>0.0339 dB     95% interval [−0.1172, +0.0514]     p = 0.4324</a:t>
            </a:r>
            <a:endParaRPr b="1" lang="en-US" sz="2100" spc="-1" strike="noStrike">
              <a:solidFill>
                <a:srgbClr val="18324b"/>
              </a:solidFill>
              <a:latin typeface="Arial"/>
            </a:endParaRPr>
          </a:p>
        </p:txBody>
      </p:sp>
      <p:sp>
        <p:nvSpPr>
          <p:cNvPr id="147" name="Rectangle 18"/>
          <p:cNvSpPr/>
          <p:nvPr/>
        </p:nvSpPr>
        <p:spPr>
          <a:xfrm>
            <a:off x="864000" y="4248000"/>
            <a:ext cx="10080000" cy="540000"/>
          </a:xfrm>
          <a:prstGeom prst="rect">
            <a:avLst/>
          </a:prstGeom>
          <a:noFill/>
          <a:ln>
            <a:noFill/>
          </a:ln>
        </p:spPr>
        <p:txBody>
          <a:bodyPr lIns="0" rIns="0" tIns="0" bIns="0" anchorCtr="1">
            <a:noAutofit/>
          </a:bodyPr>
          <a:p>
            <a:pPr algn="r"/>
            <a:r>
              <a:rPr b="0" lang="en-US" sz="1400" spc="-1" strike="noStrike">
                <a:solidFill>
                  <a:srgbClr val="243444"/>
                </a:solidFill>
                <a:latin typeface="Arial"/>
              </a:rPr>
              <a:t>The specified primary does not support a middle-window advantage; it also does not establish equivalence.</a:t>
            </a:r>
            <a:endParaRPr b="0" lang="en-US" sz="1400" spc="-1" strike="noStrike">
              <a:solidFill>
                <a:srgbClr val="243444"/>
              </a:solidFill>
              <a:latin typeface="Arial"/>
            </a:endParaRPr>
          </a:p>
          <a:p>
            <a:pPr algn="r"/>
            <a:r>
              <a:rPr b="0" lang="en-US" sz="1400" spc="-1" strike="noStrike">
                <a:solidFill>
                  <a:srgbClr val="243444"/>
                </a:solidFill>
                <a:latin typeface="Arial"/>
              </a:rPr>
              <a:t>Retrospective early/late pairwise contrasts differ in opposite directions, showing placement sensitivity without a preferred schedule.</a:t>
            </a:r>
            <a:endParaRPr b="0" lang="en-US" sz="1400" spc="-1" strike="noStrike">
              <a:solidFill>
                <a:srgbClr val="243444"/>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Rectangle 1"/>
          <p:cNvSpPr/>
          <p:nvPr/>
        </p:nvSpPr>
        <p:spPr>
          <a:xfrm>
            <a:off x="0" y="0"/>
            <a:ext cx="12192120" cy="6858000"/>
          </a:xfrm>
          <a:prstGeom prst="rect">
            <a:avLst/>
          </a:prstGeom>
          <a:solidFill>
            <a:srgbClr val="f5f8fc"/>
          </a:solidFill>
          <a:ln>
            <a:noFill/>
          </a:ln>
        </p:spPr>
      </p:sp>
      <p:sp>
        <p:nvSpPr>
          <p:cNvPr id="149"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150"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A small baked-view effect does not make C3 the winner</a:t>
            </a:r>
            <a:endParaRPr b="1" lang="en-US" sz="2700" spc="-1" strike="noStrike">
              <a:solidFill>
                <a:srgbClr val="18324b"/>
              </a:solidFill>
              <a:latin typeface="Arial"/>
            </a:endParaRPr>
          </a:p>
        </p:txBody>
      </p:sp>
      <p:sp>
        <p:nvSpPr>
          <p:cNvPr id="151" name="Rectangle 4"/>
          <p:cNvSpPr/>
          <p:nvPr/>
        </p:nvSpPr>
        <p:spPr>
          <a:xfrm>
            <a:off x="468000" y="6534000"/>
            <a:ext cx="11250000" cy="7920"/>
          </a:xfrm>
          <a:prstGeom prst="rect">
            <a:avLst/>
          </a:prstGeom>
          <a:solidFill>
            <a:srgbClr val="d9e2ea"/>
          </a:solidFill>
          <a:ln>
            <a:noFill/>
          </a:ln>
        </p:spPr>
      </p:sp>
      <p:sp>
        <p:nvSpPr>
          <p:cNvPr id="152"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153"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06 / 10</a:t>
            </a:r>
            <a:endParaRPr b="0" lang="en-US" sz="900" spc="-1" strike="noStrike">
              <a:solidFill>
                <a:srgbClr val="758697"/>
              </a:solidFill>
              <a:latin typeface="Arial"/>
            </a:endParaRPr>
          </a:p>
        </p:txBody>
      </p:sp>
      <p:pic>
        <p:nvPicPr>
          <p:cNvPr id="154" name="" descr=""/>
          <p:cNvPicPr/>
          <p:nvPr/>
        </p:nvPicPr>
        <p:blipFill>
          <a:blip r:embed="rId1"/>
          <a:stretch/>
        </p:blipFill>
        <p:spPr>
          <a:xfrm>
            <a:off x="486000" y="1368000"/>
            <a:ext cx="6408000" cy="3654000"/>
          </a:xfrm>
          <a:prstGeom prst="rect">
            <a:avLst/>
          </a:prstGeom>
          <a:ln>
            <a:noFill/>
          </a:ln>
        </p:spPr>
      </p:pic>
      <p:sp>
        <p:nvSpPr>
          <p:cNvPr id="155" name="Rectangle 7"/>
          <p:cNvSpPr/>
          <p:nvPr/>
        </p:nvSpPr>
        <p:spPr>
          <a:xfrm>
            <a:off x="7128000" y="1206000"/>
            <a:ext cx="4500000" cy="216000"/>
          </a:xfrm>
          <a:prstGeom prst="rect">
            <a:avLst/>
          </a:prstGeom>
          <a:noFill/>
          <a:ln>
            <a:noFill/>
          </a:ln>
        </p:spPr>
        <p:txBody>
          <a:bodyPr lIns="0" rIns="0" tIns="0" bIns="0" anchorCtr="1">
            <a:noAutofit/>
          </a:bodyPr>
          <a:p>
            <a:r>
              <a:rPr b="1" lang="en-US" sz="1300" spc="-1" strike="noStrike">
                <a:solidFill>
                  <a:srgbClr val="087e8b"/>
                </a:solidFill>
                <a:latin typeface="Arial"/>
              </a:rPr>
              <a:t>GEOTEX BAKE PILOT  ·  N = 10</a:t>
            </a:r>
            <a:endParaRPr b="1" lang="en-US" sz="1300" spc="-1" strike="noStrike">
              <a:solidFill>
                <a:srgbClr val="087e8b"/>
              </a:solidFill>
              <a:latin typeface="Arial"/>
            </a:endParaRPr>
          </a:p>
        </p:txBody>
      </p:sp>
      <p:sp>
        <p:nvSpPr>
          <p:cNvPr id="156" name="Rectangle 8"/>
          <p:cNvSpPr/>
          <p:nvPr/>
        </p:nvSpPr>
        <p:spPr>
          <a:xfrm>
            <a:off x="7128000" y="1584000"/>
            <a:ext cx="4500000" cy="756000"/>
          </a:xfrm>
          <a:prstGeom prst="rect">
            <a:avLst/>
          </a:prstGeom>
          <a:noFill/>
          <a:ln>
            <a:noFill/>
          </a:ln>
        </p:spPr>
        <p:txBody>
          <a:bodyPr lIns="0" rIns="0" tIns="0" bIns="0" anchorCtr="1">
            <a:noAutofit/>
          </a:bodyPr>
          <a:p>
            <a:r>
              <a:rPr b="1" lang="en-US" sz="1700" spc="-1" strike="noStrike">
                <a:solidFill>
                  <a:srgbClr val="18324b"/>
                </a:solidFill>
                <a:latin typeface="Arial"/>
              </a:rPr>
              <a:t>Late-high − Fixed Mean</a:t>
            </a:r>
            <a:endParaRPr b="1" lang="en-US" sz="1700" spc="-1" strike="noStrike">
              <a:solidFill>
                <a:srgbClr val="18324b"/>
              </a:solidFill>
              <a:latin typeface="Arial"/>
            </a:endParaRPr>
          </a:p>
          <a:p>
            <a:r>
              <a:rPr b="1" lang="en-US" sz="1700" spc="-1" strike="noStrike">
                <a:solidFill>
                  <a:srgbClr val="18324b"/>
                </a:solidFill>
                <a:latin typeface="Arial"/>
              </a:rPr>
              <a:t>unseen-view FG-LPIPS</a:t>
            </a:r>
            <a:endParaRPr b="1" lang="en-US" sz="1700" spc="-1" strike="noStrike">
              <a:solidFill>
                <a:srgbClr val="18324b"/>
              </a:solidFill>
              <a:latin typeface="Arial"/>
            </a:endParaRPr>
          </a:p>
          <a:p>
            <a:r>
              <a:rPr b="1" lang="en-US" sz="1700" spc="-1" strike="noStrike">
                <a:solidFill>
                  <a:srgbClr val="18324b"/>
                </a:solidFill>
                <a:latin typeface="Arial"/>
              </a:rPr>
              <a:t>−</a:t>
            </a:r>
            <a:r>
              <a:rPr b="1" lang="en-US" sz="1700" spc="-1" strike="noStrike">
                <a:solidFill>
                  <a:srgbClr val="18324b"/>
                </a:solidFill>
                <a:latin typeface="Arial"/>
              </a:rPr>
              <a:t>0.00265 [−0.00414, −0.00137]</a:t>
            </a:r>
            <a:endParaRPr b="1" lang="en-US" sz="1700" spc="-1" strike="noStrike">
              <a:solidFill>
                <a:srgbClr val="18324b"/>
              </a:solidFill>
              <a:latin typeface="Arial"/>
            </a:endParaRPr>
          </a:p>
        </p:txBody>
      </p:sp>
      <p:sp>
        <p:nvSpPr>
          <p:cNvPr id="157" name="Rectangle 9"/>
          <p:cNvSpPr/>
          <p:nvPr/>
        </p:nvSpPr>
        <p:spPr>
          <a:xfrm>
            <a:off x="7128000" y="2520000"/>
            <a:ext cx="4500000" cy="612000"/>
          </a:xfrm>
          <a:prstGeom prst="rect">
            <a:avLst/>
          </a:prstGeom>
          <a:noFill/>
          <a:ln>
            <a:noFill/>
          </a:ln>
        </p:spPr>
        <p:txBody>
          <a:bodyPr lIns="0" rIns="0" tIns="0" bIns="0" anchorCtr="1">
            <a:noAutofit/>
          </a:bodyPr>
          <a:p>
            <a:r>
              <a:rPr b="0" lang="en-US" sz="1400" spc="-1" strike="noStrike">
                <a:solidFill>
                  <a:srgbClr val="243444"/>
                </a:solidFill>
                <a:latin typeface="Arial"/>
              </a:rPr>
              <a:t>All ten objects favored Late-high. The change closes 3.7% of the mean reference self-bake gap.</a:t>
            </a:r>
            <a:endParaRPr b="0" lang="en-US" sz="1400" spc="-1" strike="noStrike">
              <a:solidFill>
                <a:srgbClr val="243444"/>
              </a:solidFill>
              <a:latin typeface="Arial"/>
            </a:endParaRPr>
          </a:p>
        </p:txBody>
      </p:sp>
      <p:sp>
        <p:nvSpPr>
          <p:cNvPr id="158" name="Rectangle 10"/>
          <p:cNvSpPr/>
          <p:nvPr/>
        </p:nvSpPr>
        <p:spPr>
          <a:xfrm>
            <a:off x="7092000" y="3384000"/>
            <a:ext cx="4536000" cy="1296000"/>
          </a:xfrm>
          <a:prstGeom prst="rect">
            <a:avLst/>
          </a:prstGeom>
          <a:solidFill>
            <a:srgbClr val="e8f1f5"/>
          </a:solidFill>
          <a:ln>
            <a:noFill/>
          </a:ln>
        </p:spPr>
      </p:sp>
      <p:sp>
        <p:nvSpPr>
          <p:cNvPr id="159" name="Rectangle 11"/>
          <p:cNvSpPr/>
          <p:nvPr/>
        </p:nvSpPr>
        <p:spPr>
          <a:xfrm>
            <a:off x="7236000" y="3510000"/>
            <a:ext cx="4248000" cy="936000"/>
          </a:xfrm>
          <a:prstGeom prst="rect">
            <a:avLst/>
          </a:prstGeom>
          <a:noFill/>
          <a:ln>
            <a:noFill/>
          </a:ln>
        </p:spPr>
        <p:txBody>
          <a:bodyPr lIns="0" rIns="0" tIns="0" bIns="0" anchorCtr="1">
            <a:noAutofit/>
          </a:bodyPr>
          <a:p>
            <a:r>
              <a:rPr b="0" lang="en-US" sz="1300" spc="-1" strike="noStrike">
                <a:solidFill>
                  <a:srgbClr val="243444"/>
                </a:solidFill>
                <a:latin typeface="Arial"/>
              </a:rPr>
              <a:t>Late-high is distinct from C3. The separate GSO bake (N = 20) did not detect the same benefit: +0.000084 LPIPS, interval [−0.000103, +0.000286].</a:t>
            </a:r>
            <a:endParaRPr b="0" lang="en-US" sz="1300" spc="-1" strike="noStrike">
              <a:solidFill>
                <a:srgbClr val="243444"/>
              </a:solidFill>
              <a:latin typeface="Arial"/>
            </a:endParaRPr>
          </a:p>
          <a:p>
            <a:endParaRPr b="0" lang="en-US" sz="1300" spc="-1" strike="noStrike">
              <a:solidFill>
                <a:srgbClr val="243444"/>
              </a:solidFill>
              <a:latin typeface="Arial"/>
            </a:endParaRPr>
          </a:p>
          <a:p>
            <a:r>
              <a:rPr b="0" lang="en-US" sz="1300" spc="-1" strike="noStrike">
                <a:solidFill>
                  <a:srgbClr val="243444"/>
                </a:solidFill>
                <a:latin typeface="Arial"/>
              </a:rPr>
              <a:t>Compatibility-selected pilot; substantial reference-appearance error remains.</a:t>
            </a:r>
            <a:endParaRPr b="0" lang="en-US" sz="1300" spc="-1" strike="noStrike">
              <a:solidFill>
                <a:srgbClr val="243444"/>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Rectangle 1"/>
          <p:cNvSpPr/>
          <p:nvPr/>
        </p:nvSpPr>
        <p:spPr>
          <a:xfrm>
            <a:off x="0" y="0"/>
            <a:ext cx="12192120" cy="6858000"/>
          </a:xfrm>
          <a:prstGeom prst="rect">
            <a:avLst/>
          </a:prstGeom>
          <a:solidFill>
            <a:srgbClr val="f5f8fc"/>
          </a:solidFill>
          <a:ln>
            <a:noFill/>
          </a:ln>
        </p:spPr>
      </p:sp>
      <p:sp>
        <p:nvSpPr>
          <p:cNvPr id="161"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162"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Image-space gains do not imply faithful reference appearance</a:t>
            </a:r>
            <a:endParaRPr b="1" lang="en-US" sz="2700" spc="-1" strike="noStrike">
              <a:solidFill>
                <a:srgbClr val="18324b"/>
              </a:solidFill>
              <a:latin typeface="Arial"/>
            </a:endParaRPr>
          </a:p>
        </p:txBody>
      </p:sp>
      <p:sp>
        <p:nvSpPr>
          <p:cNvPr id="163" name="Rectangle 4"/>
          <p:cNvSpPr/>
          <p:nvPr/>
        </p:nvSpPr>
        <p:spPr>
          <a:xfrm>
            <a:off x="468000" y="6534000"/>
            <a:ext cx="11250000" cy="7920"/>
          </a:xfrm>
          <a:prstGeom prst="rect">
            <a:avLst/>
          </a:prstGeom>
          <a:solidFill>
            <a:srgbClr val="d9e2ea"/>
          </a:solidFill>
          <a:ln>
            <a:noFill/>
          </a:ln>
        </p:spPr>
      </p:sp>
      <p:sp>
        <p:nvSpPr>
          <p:cNvPr id="164"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165"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07 / 10</a:t>
            </a:r>
            <a:endParaRPr b="0" lang="en-US" sz="900" spc="-1" strike="noStrike">
              <a:solidFill>
                <a:srgbClr val="758697"/>
              </a:solidFill>
              <a:latin typeface="Arial"/>
            </a:endParaRPr>
          </a:p>
        </p:txBody>
      </p:sp>
      <p:pic>
        <p:nvPicPr>
          <p:cNvPr id="166" name="" descr=""/>
          <p:cNvPicPr/>
          <p:nvPr/>
        </p:nvPicPr>
        <p:blipFill>
          <a:blip r:embed="rId1"/>
          <a:stretch/>
        </p:blipFill>
        <p:spPr>
          <a:xfrm>
            <a:off x="828000" y="1224000"/>
            <a:ext cx="10548000" cy="4356000"/>
          </a:xfrm>
          <a:prstGeom prst="rect">
            <a:avLst/>
          </a:prstGeom>
          <a:ln>
            <a:noFill/>
          </a:ln>
        </p:spPr>
      </p:pic>
      <p:sp>
        <p:nvSpPr>
          <p:cNvPr id="167" name="Rectangle 7"/>
          <p:cNvSpPr/>
          <p:nvPr/>
        </p:nvSpPr>
        <p:spPr>
          <a:xfrm>
            <a:off x="720000" y="5688000"/>
            <a:ext cx="10692000" cy="324000"/>
          </a:xfrm>
          <a:prstGeom prst="rect">
            <a:avLst/>
          </a:prstGeom>
          <a:solidFill>
            <a:srgbClr val="e8f1f5"/>
          </a:solidFill>
          <a:ln>
            <a:noFill/>
          </a:ln>
        </p:spPr>
      </p:sp>
      <p:sp>
        <p:nvSpPr>
          <p:cNvPr id="168" name="Rectangle 8"/>
          <p:cNvSpPr/>
          <p:nvPr/>
        </p:nvSpPr>
        <p:spPr>
          <a:xfrm>
            <a:off x="828000" y="5742000"/>
            <a:ext cx="10440000" cy="234000"/>
          </a:xfrm>
          <a:prstGeom prst="rect">
            <a:avLst/>
          </a:prstGeom>
          <a:noFill/>
          <a:ln>
            <a:noFill/>
          </a:ln>
        </p:spPr>
        <p:txBody>
          <a:bodyPr lIns="0" rIns="0" tIns="0" bIns="0" anchorCtr="1">
            <a:noAutofit/>
          </a:bodyPr>
          <a:p>
            <a:pPr algn="r"/>
            <a:r>
              <a:rPr b="1" lang="en-US" sz="1300" spc="-1" strike="noStrike">
                <a:solidFill>
                  <a:srgbClr val="18324b"/>
                </a:solidFill>
                <a:latin typeface="Arial"/>
              </a:rPr>
              <a:t>Reference-color and texture discrepancies remain visible. Unlit base-color renders do not establish PBR or material fidelity.</a:t>
            </a:r>
            <a:endParaRPr b="1" lang="en-US" sz="1300" spc="-1" strike="noStrike">
              <a:solidFill>
                <a:srgbClr val="18324b"/>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Rectangle 1"/>
          <p:cNvSpPr/>
          <p:nvPr/>
        </p:nvSpPr>
        <p:spPr>
          <a:xfrm>
            <a:off x="0" y="0"/>
            <a:ext cx="12192120" cy="6858000"/>
          </a:xfrm>
          <a:prstGeom prst="rect">
            <a:avLst/>
          </a:prstGeom>
          <a:solidFill>
            <a:srgbClr val="f5f8fc"/>
          </a:solidFill>
          <a:ln>
            <a:noFill/>
          </a:ln>
        </p:spPr>
      </p:sp>
      <p:sp>
        <p:nvSpPr>
          <p:cNvPr id="170"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171"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Native-interface tests bound transfer across implementations</a:t>
            </a:r>
            <a:endParaRPr b="1" lang="en-US" sz="2700" spc="-1" strike="noStrike">
              <a:solidFill>
                <a:srgbClr val="18324b"/>
              </a:solidFill>
              <a:latin typeface="Arial"/>
            </a:endParaRPr>
          </a:p>
        </p:txBody>
      </p:sp>
      <p:sp>
        <p:nvSpPr>
          <p:cNvPr id="172" name="Rectangle 4"/>
          <p:cNvSpPr/>
          <p:nvPr/>
        </p:nvSpPr>
        <p:spPr>
          <a:xfrm>
            <a:off x="468000" y="6534000"/>
            <a:ext cx="11250000" cy="7920"/>
          </a:xfrm>
          <a:prstGeom prst="rect">
            <a:avLst/>
          </a:prstGeom>
          <a:solidFill>
            <a:srgbClr val="d9e2ea"/>
          </a:solidFill>
          <a:ln>
            <a:noFill/>
          </a:ln>
        </p:spPr>
      </p:sp>
      <p:sp>
        <p:nvSpPr>
          <p:cNvPr id="173"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174"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08 / 10</a:t>
            </a:r>
            <a:endParaRPr b="0" lang="en-US" sz="900" spc="-1" strike="noStrike">
              <a:solidFill>
                <a:srgbClr val="758697"/>
              </a:solidFill>
              <a:latin typeface="Arial"/>
            </a:endParaRPr>
          </a:p>
        </p:txBody>
      </p:sp>
      <p:sp>
        <p:nvSpPr>
          <p:cNvPr id="175" name="Rectangle 7"/>
          <p:cNvSpPr/>
          <p:nvPr/>
        </p:nvSpPr>
        <p:spPr>
          <a:xfrm>
            <a:off x="540000" y="1098000"/>
            <a:ext cx="10800000" cy="234000"/>
          </a:xfrm>
          <a:prstGeom prst="rect">
            <a:avLst/>
          </a:prstGeom>
          <a:noFill/>
          <a:ln>
            <a:noFill/>
          </a:ln>
        </p:spPr>
        <p:txBody>
          <a:bodyPr lIns="0" rIns="0" tIns="0" bIns="0" anchorCtr="1">
            <a:noAutofit/>
          </a:bodyPr>
          <a:p>
            <a:r>
              <a:rPr b="1" lang="en-US" sz="1400" spc="-1" strike="noStrike">
                <a:solidFill>
                  <a:srgbClr val="087e8b"/>
                </a:solidFill>
                <a:latin typeface="Arial"/>
              </a:rPr>
              <a:t>Study-specific middle-window FG-PSNR primary contrasts · pointwise 95% intervals</a:t>
            </a:r>
            <a:endParaRPr b="1" lang="en-US" sz="1400" spc="-1" strike="noStrike">
              <a:solidFill>
                <a:srgbClr val="087e8b"/>
              </a:solidFill>
              <a:latin typeface="Arial"/>
            </a:endParaRPr>
          </a:p>
        </p:txBody>
      </p:sp>
      <p:sp>
        <p:nvSpPr>
          <p:cNvPr id="176" name="Rectangle 8"/>
          <p:cNvSpPr/>
          <p:nvPr/>
        </p:nvSpPr>
        <p:spPr>
          <a:xfrm>
            <a:off x="7223400" y="1494000"/>
            <a:ext cx="12960" cy="3060000"/>
          </a:xfrm>
          <a:prstGeom prst="rect">
            <a:avLst/>
          </a:prstGeom>
          <a:solidFill>
            <a:srgbClr val="afc0cc"/>
          </a:solidFill>
          <a:ln>
            <a:noFill/>
          </a:ln>
        </p:spPr>
      </p:sp>
      <p:sp>
        <p:nvSpPr>
          <p:cNvPr id="177" name="Rectangle 9"/>
          <p:cNvSpPr/>
          <p:nvPr/>
        </p:nvSpPr>
        <p:spPr>
          <a:xfrm>
            <a:off x="540000" y="1972800"/>
            <a:ext cx="2628000" cy="259200"/>
          </a:xfrm>
          <a:prstGeom prst="rect">
            <a:avLst/>
          </a:prstGeom>
          <a:noFill/>
          <a:ln>
            <a:noFill/>
          </a:ln>
        </p:spPr>
        <p:txBody>
          <a:bodyPr lIns="0" rIns="0" tIns="0" bIns="0" anchorCtr="1">
            <a:noAutofit/>
          </a:bodyPr>
          <a:p>
            <a:r>
              <a:rPr b="1" lang="en-US" sz="1300" spc="-1" strike="noStrike">
                <a:solidFill>
                  <a:srgbClr val="243444"/>
                </a:solidFill>
                <a:latin typeface="Arial"/>
              </a:rPr>
              <a:t>GeoTex Fresh C · N=300</a:t>
            </a:r>
            <a:endParaRPr b="1" lang="en-US" sz="1300" spc="-1" strike="noStrike">
              <a:solidFill>
                <a:srgbClr val="243444"/>
              </a:solidFill>
              <a:latin typeface="Arial"/>
            </a:endParaRPr>
          </a:p>
        </p:txBody>
      </p:sp>
      <p:sp>
        <p:nvSpPr>
          <p:cNvPr id="178" name="Rectangle 10"/>
          <p:cNvSpPr/>
          <p:nvPr/>
        </p:nvSpPr>
        <p:spPr>
          <a:xfrm>
            <a:off x="3889800" y="2052000"/>
            <a:ext cx="4804920" cy="61200"/>
          </a:xfrm>
          <a:prstGeom prst="rect">
            <a:avLst/>
          </a:prstGeom>
          <a:solidFill>
            <a:srgbClr val="2f6bce"/>
          </a:solidFill>
          <a:ln>
            <a:noFill/>
          </a:ln>
        </p:spPr>
      </p:sp>
      <p:sp>
        <p:nvSpPr>
          <p:cNvPr id="179" name="Rectangle 11"/>
          <p:cNvSpPr/>
          <p:nvPr/>
        </p:nvSpPr>
        <p:spPr>
          <a:xfrm>
            <a:off x="3879000" y="2016000"/>
            <a:ext cx="21600" cy="133200"/>
          </a:xfrm>
          <a:prstGeom prst="rect">
            <a:avLst/>
          </a:prstGeom>
          <a:solidFill>
            <a:srgbClr val="2f6bce"/>
          </a:solidFill>
          <a:ln>
            <a:noFill/>
          </a:ln>
        </p:spPr>
      </p:sp>
      <p:sp>
        <p:nvSpPr>
          <p:cNvPr id="180" name="Rectangle 12"/>
          <p:cNvSpPr/>
          <p:nvPr/>
        </p:nvSpPr>
        <p:spPr>
          <a:xfrm>
            <a:off x="8683920" y="2016000"/>
            <a:ext cx="21600" cy="133200"/>
          </a:xfrm>
          <a:prstGeom prst="rect">
            <a:avLst/>
          </a:prstGeom>
          <a:solidFill>
            <a:srgbClr val="2f6bce"/>
          </a:solidFill>
          <a:ln>
            <a:noFill/>
          </a:ln>
        </p:spPr>
      </p:sp>
      <p:sp>
        <p:nvSpPr>
          <p:cNvPr id="181" name="Rectangle 13"/>
          <p:cNvSpPr/>
          <p:nvPr/>
        </p:nvSpPr>
        <p:spPr>
          <a:xfrm>
            <a:off x="6220440" y="2008800"/>
            <a:ext cx="86400" cy="147600"/>
          </a:xfrm>
          <a:prstGeom prst="rect">
            <a:avLst/>
          </a:prstGeom>
          <a:solidFill>
            <a:srgbClr val="087e8b"/>
          </a:solidFill>
          <a:ln>
            <a:noFill/>
          </a:ln>
        </p:spPr>
      </p:sp>
      <p:sp>
        <p:nvSpPr>
          <p:cNvPr id="182" name="Rectangle 14"/>
          <p:cNvSpPr/>
          <p:nvPr/>
        </p:nvSpPr>
        <p:spPr>
          <a:xfrm>
            <a:off x="10116000" y="1962000"/>
            <a:ext cx="1620000" cy="252000"/>
          </a:xfrm>
          <a:prstGeom prst="rect">
            <a:avLst/>
          </a:prstGeom>
          <a:noFill/>
          <a:ln>
            <a:noFill/>
          </a:ln>
        </p:spPr>
        <p:txBody>
          <a:bodyPr lIns="0" rIns="0" tIns="0" bIns="0" anchorCtr="1">
            <a:noAutofit/>
          </a:bodyPr>
          <a:p>
            <a:r>
              <a:rPr b="1" lang="en-US" sz="1200" spc="-1" strike="noStrike">
                <a:solidFill>
                  <a:srgbClr val="18324b"/>
                </a:solidFill>
                <a:latin typeface="Arial"/>
              </a:rPr>
              <a:t>-0.034 dB</a:t>
            </a:r>
            <a:endParaRPr b="1" lang="en-US" sz="1200" spc="-1" strike="noStrike">
              <a:solidFill>
                <a:srgbClr val="18324b"/>
              </a:solidFill>
              <a:latin typeface="Arial"/>
            </a:endParaRPr>
          </a:p>
        </p:txBody>
      </p:sp>
      <p:sp>
        <p:nvSpPr>
          <p:cNvPr id="183" name="Rectangle 15"/>
          <p:cNvSpPr/>
          <p:nvPr/>
        </p:nvSpPr>
        <p:spPr>
          <a:xfrm>
            <a:off x="540000" y="2908800"/>
            <a:ext cx="2628000" cy="259200"/>
          </a:xfrm>
          <a:prstGeom prst="rect">
            <a:avLst/>
          </a:prstGeom>
          <a:noFill/>
          <a:ln>
            <a:noFill/>
          </a:ln>
        </p:spPr>
        <p:txBody>
          <a:bodyPr lIns="0" rIns="0" tIns="0" bIns="0" anchorCtr="1">
            <a:noAutofit/>
          </a:bodyPr>
          <a:p>
            <a:r>
              <a:rPr b="1" lang="en-US" sz="1300" spc="-1" strike="noStrike">
                <a:solidFill>
                  <a:srgbClr val="243444"/>
                </a:solidFill>
                <a:latin typeface="Arial"/>
              </a:rPr>
              <a:t>MV-Adapter50 · N=50</a:t>
            </a:r>
            <a:endParaRPr b="1" lang="en-US" sz="1300" spc="-1" strike="noStrike">
              <a:solidFill>
                <a:srgbClr val="243444"/>
              </a:solidFill>
              <a:latin typeface="Arial"/>
            </a:endParaRPr>
          </a:p>
        </p:txBody>
      </p:sp>
      <p:sp>
        <p:nvSpPr>
          <p:cNvPr id="184" name="Rectangle 16"/>
          <p:cNvSpPr/>
          <p:nvPr/>
        </p:nvSpPr>
        <p:spPr>
          <a:xfrm>
            <a:off x="6676920" y="2988000"/>
            <a:ext cx="2852640" cy="61200"/>
          </a:xfrm>
          <a:prstGeom prst="rect">
            <a:avLst/>
          </a:prstGeom>
          <a:solidFill>
            <a:srgbClr val="2f6bce"/>
          </a:solidFill>
          <a:ln>
            <a:noFill/>
          </a:ln>
        </p:spPr>
      </p:sp>
      <p:sp>
        <p:nvSpPr>
          <p:cNvPr id="185" name="Rectangle 17"/>
          <p:cNvSpPr/>
          <p:nvPr/>
        </p:nvSpPr>
        <p:spPr>
          <a:xfrm>
            <a:off x="6666120" y="2952000"/>
            <a:ext cx="21600" cy="133200"/>
          </a:xfrm>
          <a:prstGeom prst="rect">
            <a:avLst/>
          </a:prstGeom>
          <a:solidFill>
            <a:srgbClr val="2f6bce"/>
          </a:solidFill>
          <a:ln>
            <a:noFill/>
          </a:ln>
        </p:spPr>
      </p:sp>
      <p:sp>
        <p:nvSpPr>
          <p:cNvPr id="186" name="Rectangle 18"/>
          <p:cNvSpPr/>
          <p:nvPr/>
        </p:nvSpPr>
        <p:spPr>
          <a:xfrm>
            <a:off x="9519120" y="2952000"/>
            <a:ext cx="21600" cy="133200"/>
          </a:xfrm>
          <a:prstGeom prst="rect">
            <a:avLst/>
          </a:prstGeom>
          <a:solidFill>
            <a:srgbClr val="2f6bce"/>
          </a:solidFill>
          <a:ln>
            <a:noFill/>
          </a:ln>
        </p:spPr>
      </p:sp>
      <p:sp>
        <p:nvSpPr>
          <p:cNvPr id="187" name="Rectangle 19"/>
          <p:cNvSpPr/>
          <p:nvPr/>
        </p:nvSpPr>
        <p:spPr>
          <a:xfrm>
            <a:off x="8013240" y="2944800"/>
            <a:ext cx="86400" cy="147600"/>
          </a:xfrm>
          <a:prstGeom prst="rect">
            <a:avLst/>
          </a:prstGeom>
          <a:solidFill>
            <a:srgbClr val="087e8b"/>
          </a:solidFill>
          <a:ln>
            <a:noFill/>
          </a:ln>
        </p:spPr>
      </p:sp>
      <p:sp>
        <p:nvSpPr>
          <p:cNvPr id="188" name="Rectangle 20"/>
          <p:cNvSpPr/>
          <p:nvPr/>
        </p:nvSpPr>
        <p:spPr>
          <a:xfrm>
            <a:off x="10116000" y="2898000"/>
            <a:ext cx="1620000" cy="252000"/>
          </a:xfrm>
          <a:prstGeom prst="rect">
            <a:avLst/>
          </a:prstGeom>
          <a:noFill/>
          <a:ln>
            <a:noFill/>
          </a:ln>
        </p:spPr>
        <p:txBody>
          <a:bodyPr lIns="0" rIns="0" tIns="0" bIns="0" anchorCtr="1">
            <a:noAutofit/>
          </a:bodyPr>
          <a:p>
            <a:r>
              <a:rPr b="1" lang="en-US" sz="1200" spc="-1" strike="noStrike">
                <a:solidFill>
                  <a:srgbClr val="18324b"/>
                </a:solidFill>
                <a:latin typeface="Arial"/>
              </a:rPr>
              <a:t>+0.029 dB</a:t>
            </a:r>
            <a:endParaRPr b="1" lang="en-US" sz="1200" spc="-1" strike="noStrike">
              <a:solidFill>
                <a:srgbClr val="18324b"/>
              </a:solidFill>
              <a:latin typeface="Arial"/>
            </a:endParaRPr>
          </a:p>
        </p:txBody>
      </p:sp>
      <p:sp>
        <p:nvSpPr>
          <p:cNvPr id="189" name="Rectangle 21"/>
          <p:cNvSpPr/>
          <p:nvPr/>
        </p:nvSpPr>
        <p:spPr>
          <a:xfrm>
            <a:off x="540000" y="3844800"/>
            <a:ext cx="2628000" cy="259200"/>
          </a:xfrm>
          <a:prstGeom prst="rect">
            <a:avLst/>
          </a:prstGeom>
          <a:noFill/>
          <a:ln>
            <a:noFill/>
          </a:ln>
        </p:spPr>
        <p:txBody>
          <a:bodyPr lIns="0" rIns="0" tIns="0" bIns="0" anchorCtr="1">
            <a:noAutofit/>
          </a:bodyPr>
          <a:p>
            <a:r>
              <a:rPr b="1" lang="en-US" sz="1300" spc="-1" strike="noStrike">
                <a:solidFill>
                  <a:srgbClr val="243444"/>
                </a:solidFill>
                <a:latin typeface="Arial"/>
              </a:rPr>
              <a:t>GSO100 · N=100</a:t>
            </a:r>
            <a:endParaRPr b="1" lang="en-US" sz="1300" spc="-1" strike="noStrike">
              <a:solidFill>
                <a:srgbClr val="243444"/>
              </a:solidFill>
              <a:latin typeface="Arial"/>
            </a:endParaRPr>
          </a:p>
        </p:txBody>
      </p:sp>
      <p:sp>
        <p:nvSpPr>
          <p:cNvPr id="190" name="Rectangle 22"/>
          <p:cNvSpPr/>
          <p:nvPr/>
        </p:nvSpPr>
        <p:spPr>
          <a:xfrm>
            <a:off x="6357600" y="3924000"/>
            <a:ext cx="971640" cy="61200"/>
          </a:xfrm>
          <a:prstGeom prst="rect">
            <a:avLst/>
          </a:prstGeom>
          <a:solidFill>
            <a:srgbClr val="2f6bce"/>
          </a:solidFill>
          <a:ln>
            <a:noFill/>
          </a:ln>
        </p:spPr>
      </p:sp>
      <p:sp>
        <p:nvSpPr>
          <p:cNvPr id="191" name="Rectangle 23"/>
          <p:cNvSpPr/>
          <p:nvPr/>
        </p:nvSpPr>
        <p:spPr>
          <a:xfrm>
            <a:off x="6346800" y="3888000"/>
            <a:ext cx="21600" cy="133200"/>
          </a:xfrm>
          <a:prstGeom prst="rect">
            <a:avLst/>
          </a:prstGeom>
          <a:solidFill>
            <a:srgbClr val="2f6bce"/>
          </a:solidFill>
          <a:ln>
            <a:noFill/>
          </a:ln>
        </p:spPr>
      </p:sp>
      <p:sp>
        <p:nvSpPr>
          <p:cNvPr id="192" name="Rectangle 24"/>
          <p:cNvSpPr/>
          <p:nvPr/>
        </p:nvSpPr>
        <p:spPr>
          <a:xfrm>
            <a:off x="7318800" y="3888000"/>
            <a:ext cx="21600" cy="133200"/>
          </a:xfrm>
          <a:prstGeom prst="rect">
            <a:avLst/>
          </a:prstGeom>
          <a:solidFill>
            <a:srgbClr val="2f6bce"/>
          </a:solidFill>
          <a:ln>
            <a:noFill/>
          </a:ln>
        </p:spPr>
      </p:sp>
      <p:sp>
        <p:nvSpPr>
          <p:cNvPr id="193" name="Rectangle 25"/>
          <p:cNvSpPr/>
          <p:nvPr/>
        </p:nvSpPr>
        <p:spPr>
          <a:xfrm>
            <a:off x="6796080" y="3880800"/>
            <a:ext cx="86400" cy="147600"/>
          </a:xfrm>
          <a:prstGeom prst="rect">
            <a:avLst/>
          </a:prstGeom>
          <a:solidFill>
            <a:srgbClr val="087e8b"/>
          </a:solidFill>
          <a:ln>
            <a:noFill/>
          </a:ln>
        </p:spPr>
      </p:sp>
      <p:sp>
        <p:nvSpPr>
          <p:cNvPr id="194" name="Rectangle 26"/>
          <p:cNvSpPr/>
          <p:nvPr/>
        </p:nvSpPr>
        <p:spPr>
          <a:xfrm>
            <a:off x="10116000" y="3834000"/>
            <a:ext cx="1620000" cy="252000"/>
          </a:xfrm>
          <a:prstGeom prst="rect">
            <a:avLst/>
          </a:prstGeom>
          <a:noFill/>
          <a:ln>
            <a:noFill/>
          </a:ln>
        </p:spPr>
        <p:txBody>
          <a:bodyPr lIns="0" rIns="0" tIns="0" bIns="0" anchorCtr="1">
            <a:noAutofit/>
          </a:bodyPr>
          <a:p>
            <a:r>
              <a:rPr b="1" lang="en-US" sz="1200" spc="-1" strike="noStrike">
                <a:solidFill>
                  <a:srgbClr val="18324b"/>
                </a:solidFill>
                <a:latin typeface="Arial"/>
              </a:rPr>
              <a:t>-0.014 dB</a:t>
            </a:r>
            <a:endParaRPr b="1" lang="en-US" sz="1200" spc="-1" strike="noStrike">
              <a:solidFill>
                <a:srgbClr val="18324b"/>
              </a:solidFill>
              <a:latin typeface="Arial"/>
            </a:endParaRPr>
          </a:p>
        </p:txBody>
      </p:sp>
      <p:sp>
        <p:nvSpPr>
          <p:cNvPr id="195" name="Rectangle 27"/>
          <p:cNvSpPr/>
          <p:nvPr/>
        </p:nvSpPr>
        <p:spPr>
          <a:xfrm>
            <a:off x="3168000" y="4752000"/>
            <a:ext cx="648000" cy="162000"/>
          </a:xfrm>
          <a:prstGeom prst="rect">
            <a:avLst/>
          </a:prstGeom>
          <a:noFill/>
          <a:ln>
            <a:noFill/>
          </a:ln>
        </p:spPr>
        <p:txBody>
          <a:bodyPr lIns="0" rIns="0" tIns="0" bIns="0" anchorCtr="1">
            <a:noAutofit/>
          </a:bodyPr>
          <a:p>
            <a:r>
              <a:rPr b="0" lang="en-US" sz="1000" spc="-1" strike="noStrike">
                <a:solidFill>
                  <a:srgbClr val="596b7b"/>
                </a:solidFill>
                <a:latin typeface="Arial"/>
              </a:rPr>
              <a:t>−</a:t>
            </a:r>
            <a:r>
              <a:rPr b="0" lang="en-US" sz="1000" spc="-1" strike="noStrike">
                <a:solidFill>
                  <a:srgbClr val="596b7b"/>
                </a:solidFill>
                <a:latin typeface="Arial"/>
              </a:rPr>
              <a:t>0.14</a:t>
            </a:r>
            <a:endParaRPr b="0" lang="en-US" sz="1000" spc="-1" strike="noStrike">
              <a:solidFill>
                <a:srgbClr val="596b7b"/>
              </a:solidFill>
              <a:latin typeface="Arial"/>
            </a:endParaRPr>
          </a:p>
        </p:txBody>
      </p:sp>
      <p:sp>
        <p:nvSpPr>
          <p:cNvPr id="196" name="Rectangle 28"/>
          <p:cNvSpPr/>
          <p:nvPr/>
        </p:nvSpPr>
        <p:spPr>
          <a:xfrm>
            <a:off x="7175880" y="4752000"/>
            <a:ext cx="324000" cy="162000"/>
          </a:xfrm>
          <a:prstGeom prst="rect">
            <a:avLst/>
          </a:prstGeom>
          <a:noFill/>
          <a:ln>
            <a:noFill/>
          </a:ln>
        </p:spPr>
        <p:txBody>
          <a:bodyPr lIns="0" rIns="0" tIns="0" bIns="0" anchorCtr="1">
            <a:noAutofit/>
          </a:bodyPr>
          <a:p>
            <a:pPr algn="r"/>
            <a:r>
              <a:rPr b="0" lang="en-US" sz="1000" spc="-1" strike="noStrike">
                <a:solidFill>
                  <a:srgbClr val="596b7b"/>
                </a:solidFill>
                <a:latin typeface="Arial"/>
              </a:rPr>
              <a:t>0</a:t>
            </a:r>
            <a:endParaRPr b="0" lang="en-US" sz="1000" spc="-1" strike="noStrike">
              <a:solidFill>
                <a:srgbClr val="596b7b"/>
              </a:solidFill>
              <a:latin typeface="Arial"/>
            </a:endParaRPr>
          </a:p>
        </p:txBody>
      </p:sp>
      <p:sp>
        <p:nvSpPr>
          <p:cNvPr id="197" name="Rectangle 29"/>
          <p:cNvSpPr/>
          <p:nvPr/>
        </p:nvSpPr>
        <p:spPr>
          <a:xfrm>
            <a:off x="9900000" y="4752000"/>
            <a:ext cx="324000" cy="162000"/>
          </a:xfrm>
          <a:prstGeom prst="rect">
            <a:avLst/>
          </a:prstGeom>
          <a:noFill/>
          <a:ln>
            <a:noFill/>
          </a:ln>
        </p:spPr>
        <p:txBody>
          <a:bodyPr lIns="0" rIns="0" tIns="0" bIns="0" anchorCtr="1">
            <a:noAutofit/>
          </a:bodyPr>
          <a:p>
            <a:pPr algn="just"/>
            <a:r>
              <a:rPr b="0" lang="en-US" sz="1000" spc="-1" strike="noStrike">
                <a:solidFill>
                  <a:srgbClr val="596b7b"/>
                </a:solidFill>
                <a:latin typeface="Arial"/>
              </a:rPr>
              <a:t>+0.10</a:t>
            </a:r>
            <a:endParaRPr b="0" lang="en-US" sz="1000" spc="-1" strike="noStrike">
              <a:solidFill>
                <a:srgbClr val="596b7b"/>
              </a:solidFill>
              <a:latin typeface="Arial"/>
            </a:endParaRPr>
          </a:p>
        </p:txBody>
      </p:sp>
      <p:sp>
        <p:nvSpPr>
          <p:cNvPr id="198" name="Rectangle 30"/>
          <p:cNvSpPr/>
          <p:nvPr/>
        </p:nvSpPr>
        <p:spPr>
          <a:xfrm>
            <a:off x="576000" y="5130000"/>
            <a:ext cx="10728000" cy="468000"/>
          </a:xfrm>
          <a:prstGeom prst="rect">
            <a:avLst/>
          </a:prstGeom>
          <a:noFill/>
          <a:ln>
            <a:noFill/>
          </a:ln>
        </p:spPr>
        <p:txBody>
          <a:bodyPr lIns="0" rIns="0" tIns="0" bIns="0" anchorCtr="1">
            <a:noAutofit/>
          </a:bodyPr>
          <a:p>
            <a:pPr algn="r"/>
            <a:r>
              <a:rPr b="0" lang="en-US" sz="1300" spc="-1" strike="noStrike">
                <a:solidFill>
                  <a:srgbClr val="243444"/>
                </a:solidFill>
                <a:latin typeface="Arial"/>
              </a:rPr>
              <a:t>All three intervals include zero. The studies use separate cohorts and study-specific contrasts; GSO100 shares the MV-Adapter interface and is not an independent backbone replication.</a:t>
            </a:r>
            <a:endParaRPr b="0" lang="en-US" sz="1300" spc="-1" strike="noStrike">
              <a:solidFill>
                <a:srgbClr val="243444"/>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Rectangle 1"/>
          <p:cNvSpPr/>
          <p:nvPr/>
        </p:nvSpPr>
        <p:spPr>
          <a:xfrm>
            <a:off x="0" y="0"/>
            <a:ext cx="12192120" cy="6858000"/>
          </a:xfrm>
          <a:prstGeom prst="rect">
            <a:avLst/>
          </a:prstGeom>
          <a:solidFill>
            <a:srgbClr val="f5f8fc"/>
          </a:solidFill>
          <a:ln>
            <a:noFill/>
          </a:ln>
        </p:spPr>
      </p:sp>
      <p:sp>
        <p:nvSpPr>
          <p:cNvPr id="200" name="Rectangle 2"/>
          <p:cNvSpPr/>
          <p:nvPr/>
        </p:nvSpPr>
        <p:spPr>
          <a:xfrm>
            <a:off x="468000" y="144000"/>
            <a:ext cx="10440000" cy="180000"/>
          </a:xfrm>
          <a:prstGeom prst="rect">
            <a:avLst/>
          </a:prstGeom>
          <a:noFill/>
          <a:ln>
            <a:noFill/>
          </a:ln>
        </p:spPr>
        <p:txBody>
          <a:bodyPr lIns="0" rIns="0" tIns="0" bIns="0" anchorCtr="1">
            <a:noAutofit/>
          </a:bodyPr>
          <a:p>
            <a:r>
              <a:rPr b="1" lang="en-US" sz="1000" spc="-1" strike="noStrike">
                <a:solidFill>
                  <a:srgbClr val="087e8b"/>
                </a:solidFill>
                <a:latin typeface="Arial"/>
              </a:rPr>
              <a:t>COMPUTERS &amp; GRAPHICS  |  V5 JOURNAL STUDY</a:t>
            </a:r>
            <a:endParaRPr b="1" lang="en-US" sz="1000" spc="-1" strike="noStrike">
              <a:solidFill>
                <a:srgbClr val="087e8b"/>
              </a:solidFill>
              <a:latin typeface="Arial"/>
            </a:endParaRPr>
          </a:p>
        </p:txBody>
      </p:sp>
      <p:sp>
        <p:nvSpPr>
          <p:cNvPr id="201" name="Rectangle 3"/>
          <p:cNvSpPr/>
          <p:nvPr/>
        </p:nvSpPr>
        <p:spPr>
          <a:xfrm>
            <a:off x="468000" y="378000"/>
            <a:ext cx="11160000" cy="450000"/>
          </a:xfrm>
          <a:prstGeom prst="rect">
            <a:avLst/>
          </a:prstGeom>
          <a:noFill/>
          <a:ln>
            <a:noFill/>
          </a:ln>
        </p:spPr>
        <p:txBody>
          <a:bodyPr lIns="0" rIns="0" tIns="0" bIns="0" anchorCtr="1">
            <a:noAutofit/>
          </a:bodyPr>
          <a:p>
            <a:r>
              <a:rPr b="1" lang="en-US" sz="2700" spc="-1" strike="noStrike">
                <a:solidFill>
                  <a:srgbClr val="18324b"/>
                </a:solidFill>
                <a:latin typeface="Arial"/>
              </a:rPr>
              <a:t>The contribution is an evidence chain for deployed geometry control</a:t>
            </a:r>
            <a:endParaRPr b="1" lang="en-US" sz="2700" spc="-1" strike="noStrike">
              <a:solidFill>
                <a:srgbClr val="18324b"/>
              </a:solidFill>
              <a:latin typeface="Arial"/>
            </a:endParaRPr>
          </a:p>
        </p:txBody>
      </p:sp>
      <p:sp>
        <p:nvSpPr>
          <p:cNvPr id="202" name="Rectangle 4"/>
          <p:cNvSpPr/>
          <p:nvPr/>
        </p:nvSpPr>
        <p:spPr>
          <a:xfrm>
            <a:off x="468000" y="6534000"/>
            <a:ext cx="11250000" cy="7920"/>
          </a:xfrm>
          <a:prstGeom prst="rect">
            <a:avLst/>
          </a:prstGeom>
          <a:solidFill>
            <a:srgbClr val="d9e2ea"/>
          </a:solidFill>
          <a:ln>
            <a:noFill/>
          </a:ln>
        </p:spPr>
      </p:sp>
      <p:sp>
        <p:nvSpPr>
          <p:cNvPr id="203" name="Rectangle 5"/>
          <p:cNvSpPr/>
          <p:nvPr/>
        </p:nvSpPr>
        <p:spPr>
          <a:xfrm>
            <a:off x="468000" y="6566400"/>
            <a:ext cx="9000000" cy="140400"/>
          </a:xfrm>
          <a:prstGeom prst="rect">
            <a:avLst/>
          </a:prstGeom>
          <a:noFill/>
          <a:ln>
            <a:noFill/>
          </a:ln>
        </p:spPr>
        <p:txBody>
          <a:bodyPr lIns="0" rIns="0" tIns="0" bIns="0" anchorCtr="1">
            <a:noAutofit/>
          </a:bodyPr>
          <a:p>
            <a:r>
              <a:rPr b="0" lang="en-US" sz="900" spc="-1" strike="noStrike">
                <a:solidFill>
                  <a:srgbClr val="758697"/>
                </a:solidFill>
                <a:latin typeface="Arial"/>
              </a:rPr>
              <a:t>V5 journal study  |  Timestep-conditioned geometry control</a:t>
            </a:r>
            <a:endParaRPr b="0" lang="en-US" sz="900" spc="-1" strike="noStrike">
              <a:solidFill>
                <a:srgbClr val="758697"/>
              </a:solidFill>
              <a:latin typeface="Arial"/>
            </a:endParaRPr>
          </a:p>
        </p:txBody>
      </p:sp>
      <p:sp>
        <p:nvSpPr>
          <p:cNvPr id="204" name="Rectangle 6"/>
          <p:cNvSpPr/>
          <p:nvPr/>
        </p:nvSpPr>
        <p:spPr>
          <a:xfrm>
            <a:off x="11160000" y="6566400"/>
            <a:ext cx="540000" cy="140400"/>
          </a:xfrm>
          <a:prstGeom prst="rect">
            <a:avLst/>
          </a:prstGeom>
          <a:noFill/>
          <a:ln>
            <a:noFill/>
          </a:ln>
        </p:spPr>
        <p:txBody>
          <a:bodyPr lIns="0" rIns="0" tIns="0" bIns="0" anchorCtr="1">
            <a:noAutofit/>
          </a:bodyPr>
          <a:p>
            <a:pPr algn="just"/>
            <a:r>
              <a:rPr b="0" lang="en-US" sz="900" spc="-1" strike="noStrike">
                <a:solidFill>
                  <a:srgbClr val="758697"/>
                </a:solidFill>
                <a:latin typeface="Arial"/>
              </a:rPr>
              <a:t>09 / 10</a:t>
            </a:r>
            <a:endParaRPr b="0" lang="en-US" sz="900" spc="-1" strike="noStrike">
              <a:solidFill>
                <a:srgbClr val="758697"/>
              </a:solidFill>
              <a:latin typeface="Arial"/>
            </a:endParaRPr>
          </a:p>
        </p:txBody>
      </p:sp>
      <p:sp>
        <p:nvSpPr>
          <p:cNvPr id="205" name="Rectangle 7"/>
          <p:cNvSpPr/>
          <p:nvPr/>
        </p:nvSpPr>
        <p:spPr>
          <a:xfrm>
            <a:off x="504000" y="1692000"/>
            <a:ext cx="3384000" cy="2016000"/>
          </a:xfrm>
          <a:prstGeom prst="rect">
            <a:avLst/>
          </a:prstGeom>
          <a:solidFill>
            <a:srgbClr val="ffffff"/>
          </a:solidFill>
          <a:ln>
            <a:noFill/>
          </a:ln>
        </p:spPr>
      </p:sp>
      <p:sp>
        <p:nvSpPr>
          <p:cNvPr id="206" name="Rectangle 8"/>
          <p:cNvSpPr/>
          <p:nvPr/>
        </p:nvSpPr>
        <p:spPr>
          <a:xfrm>
            <a:off x="504000" y="1692000"/>
            <a:ext cx="3384000" cy="57600"/>
          </a:xfrm>
          <a:prstGeom prst="rect">
            <a:avLst/>
          </a:prstGeom>
          <a:solidFill>
            <a:srgbClr val="087e8b"/>
          </a:solidFill>
          <a:ln>
            <a:noFill/>
          </a:ln>
        </p:spPr>
      </p:sp>
      <p:sp>
        <p:nvSpPr>
          <p:cNvPr id="207" name="Rectangle 9"/>
          <p:cNvSpPr/>
          <p:nvPr/>
        </p:nvSpPr>
        <p:spPr>
          <a:xfrm>
            <a:off x="648000" y="1872000"/>
            <a:ext cx="3096000" cy="306000"/>
          </a:xfrm>
          <a:prstGeom prst="rect">
            <a:avLst/>
          </a:prstGeom>
          <a:noFill/>
          <a:ln>
            <a:noFill/>
          </a:ln>
        </p:spPr>
        <p:txBody>
          <a:bodyPr lIns="0" rIns="0" tIns="0" bIns="0" anchorCtr="1">
            <a:noAutofit/>
          </a:bodyPr>
          <a:p>
            <a:r>
              <a:rPr b="1" lang="en-US" sz="1300" spc="-1" strike="noStrike">
                <a:solidFill>
                  <a:srgbClr val="087e8b"/>
                </a:solidFill>
                <a:latin typeface="Arial"/>
              </a:rPr>
              <a:t>01  IMPLEMENTATION</a:t>
            </a:r>
            <a:endParaRPr b="1" lang="en-US" sz="1300" spc="-1" strike="noStrike">
              <a:solidFill>
                <a:srgbClr val="087e8b"/>
              </a:solidFill>
              <a:latin typeface="Arial"/>
            </a:endParaRPr>
          </a:p>
        </p:txBody>
      </p:sp>
      <p:sp>
        <p:nvSpPr>
          <p:cNvPr id="208" name="Rectangle 10"/>
          <p:cNvSpPr/>
          <p:nvPr/>
        </p:nvSpPr>
        <p:spPr>
          <a:xfrm>
            <a:off x="648000" y="2286000"/>
            <a:ext cx="3096000" cy="1224000"/>
          </a:xfrm>
          <a:prstGeom prst="rect">
            <a:avLst/>
          </a:prstGeom>
          <a:noFill/>
          <a:ln>
            <a:noFill/>
          </a:ln>
        </p:spPr>
        <p:txBody>
          <a:bodyPr lIns="0" rIns="0" tIns="0" bIns="0" anchorCtr="1">
            <a:noAutofit/>
          </a:bodyPr>
          <a:p>
            <a:r>
              <a:rPr b="1" lang="en-US" sz="1600" spc="-1" strike="noStrike">
                <a:solidFill>
                  <a:srgbClr val="18324b"/>
                </a:solidFill>
                <a:latin typeface="Arial"/>
              </a:rPr>
              <a:t>Separate requested scales, cap-adjusted applied scales, and state-dependent residual corrections.</a:t>
            </a:r>
            <a:endParaRPr b="1" lang="en-US" sz="1600" spc="-1" strike="noStrike">
              <a:solidFill>
                <a:srgbClr val="18324b"/>
              </a:solidFill>
              <a:latin typeface="Arial"/>
            </a:endParaRPr>
          </a:p>
        </p:txBody>
      </p:sp>
      <p:sp>
        <p:nvSpPr>
          <p:cNvPr id="209" name="Rectangle 11"/>
          <p:cNvSpPr/>
          <p:nvPr/>
        </p:nvSpPr>
        <p:spPr>
          <a:xfrm>
            <a:off x="4248000" y="1692000"/>
            <a:ext cx="3384000" cy="2016000"/>
          </a:xfrm>
          <a:prstGeom prst="rect">
            <a:avLst/>
          </a:prstGeom>
          <a:solidFill>
            <a:srgbClr val="ffffff"/>
          </a:solidFill>
          <a:ln>
            <a:noFill/>
          </a:ln>
        </p:spPr>
      </p:sp>
      <p:sp>
        <p:nvSpPr>
          <p:cNvPr id="210" name="Rectangle 12"/>
          <p:cNvSpPr/>
          <p:nvPr/>
        </p:nvSpPr>
        <p:spPr>
          <a:xfrm>
            <a:off x="4248000" y="1692000"/>
            <a:ext cx="3384000" cy="57600"/>
          </a:xfrm>
          <a:prstGeom prst="rect">
            <a:avLst/>
          </a:prstGeom>
          <a:solidFill>
            <a:srgbClr val="087e8b"/>
          </a:solidFill>
          <a:ln>
            <a:noFill/>
          </a:ln>
        </p:spPr>
      </p:sp>
      <p:sp>
        <p:nvSpPr>
          <p:cNvPr id="211" name="Rectangle 13"/>
          <p:cNvSpPr/>
          <p:nvPr/>
        </p:nvSpPr>
        <p:spPr>
          <a:xfrm>
            <a:off x="4392000" y="1872000"/>
            <a:ext cx="3096000" cy="306000"/>
          </a:xfrm>
          <a:prstGeom prst="rect">
            <a:avLst/>
          </a:prstGeom>
          <a:noFill/>
          <a:ln>
            <a:noFill/>
          </a:ln>
        </p:spPr>
        <p:txBody>
          <a:bodyPr lIns="0" rIns="0" tIns="0" bIns="0" anchorCtr="1">
            <a:noAutofit/>
          </a:bodyPr>
          <a:p>
            <a:r>
              <a:rPr b="1" lang="en-US" sz="1300" spc="-1" strike="noStrike">
                <a:solidFill>
                  <a:srgbClr val="087e8b"/>
                </a:solidFill>
                <a:latin typeface="Arial"/>
              </a:rPr>
              <a:t>02  CONTROLLED COMPARISONS</a:t>
            </a:r>
            <a:endParaRPr b="1" lang="en-US" sz="1300" spc="-1" strike="noStrike">
              <a:solidFill>
                <a:srgbClr val="087e8b"/>
              </a:solidFill>
              <a:latin typeface="Arial"/>
            </a:endParaRPr>
          </a:p>
        </p:txBody>
      </p:sp>
      <p:sp>
        <p:nvSpPr>
          <p:cNvPr id="212" name="Rectangle 14"/>
          <p:cNvSpPr/>
          <p:nvPr/>
        </p:nvSpPr>
        <p:spPr>
          <a:xfrm>
            <a:off x="4392000" y="2286000"/>
            <a:ext cx="3096000" cy="1224000"/>
          </a:xfrm>
          <a:prstGeom prst="rect">
            <a:avLst/>
          </a:prstGeom>
          <a:noFill/>
          <a:ln>
            <a:noFill/>
          </a:ln>
        </p:spPr>
        <p:txBody>
          <a:bodyPr lIns="0" rIns="0" tIns="0" bIns="0" anchorCtr="1">
            <a:noAutofit/>
          </a:bodyPr>
          <a:p>
            <a:r>
              <a:rPr b="1" lang="en-US" sz="1600" spc="-1" strike="noStrike">
                <a:solidFill>
                  <a:srgbClr val="18324b"/>
                </a:solidFill>
                <a:latin typeface="Arial"/>
              </a:rPr>
              <a:t>Compare C3 with strong fixed and linear controls and a matched applied-scale timing test.</a:t>
            </a:r>
            <a:endParaRPr b="1" lang="en-US" sz="1600" spc="-1" strike="noStrike">
              <a:solidFill>
                <a:srgbClr val="18324b"/>
              </a:solidFill>
              <a:latin typeface="Arial"/>
            </a:endParaRPr>
          </a:p>
        </p:txBody>
      </p:sp>
      <p:sp>
        <p:nvSpPr>
          <p:cNvPr id="213" name="Rectangle 15"/>
          <p:cNvSpPr/>
          <p:nvPr/>
        </p:nvSpPr>
        <p:spPr>
          <a:xfrm>
            <a:off x="7992000" y="1692000"/>
            <a:ext cx="3384000" cy="2016000"/>
          </a:xfrm>
          <a:prstGeom prst="rect">
            <a:avLst/>
          </a:prstGeom>
          <a:solidFill>
            <a:srgbClr val="ffffff"/>
          </a:solidFill>
          <a:ln>
            <a:noFill/>
          </a:ln>
        </p:spPr>
      </p:sp>
      <p:sp>
        <p:nvSpPr>
          <p:cNvPr id="214" name="Rectangle 16"/>
          <p:cNvSpPr/>
          <p:nvPr/>
        </p:nvSpPr>
        <p:spPr>
          <a:xfrm>
            <a:off x="7992000" y="1692000"/>
            <a:ext cx="3384000" cy="57600"/>
          </a:xfrm>
          <a:prstGeom prst="rect">
            <a:avLst/>
          </a:prstGeom>
          <a:solidFill>
            <a:srgbClr val="087e8b"/>
          </a:solidFill>
          <a:ln>
            <a:noFill/>
          </a:ln>
        </p:spPr>
      </p:sp>
      <p:sp>
        <p:nvSpPr>
          <p:cNvPr id="215" name="Rectangle 17"/>
          <p:cNvSpPr/>
          <p:nvPr/>
        </p:nvSpPr>
        <p:spPr>
          <a:xfrm>
            <a:off x="8136000" y="1872000"/>
            <a:ext cx="3096000" cy="306000"/>
          </a:xfrm>
          <a:prstGeom prst="rect">
            <a:avLst/>
          </a:prstGeom>
          <a:noFill/>
          <a:ln>
            <a:noFill/>
          </a:ln>
        </p:spPr>
        <p:txBody>
          <a:bodyPr lIns="0" rIns="0" tIns="0" bIns="0" anchorCtr="1">
            <a:noAutofit/>
          </a:bodyPr>
          <a:p>
            <a:r>
              <a:rPr b="1" lang="en-US" sz="1300" spc="-1" strike="noStrike">
                <a:solidFill>
                  <a:srgbClr val="087e8b"/>
                </a:solidFill>
                <a:latin typeface="Arial"/>
              </a:rPr>
              <a:t>03  ASSET-LEVEL EVALUATION</a:t>
            </a:r>
            <a:endParaRPr b="1" lang="en-US" sz="1300" spc="-1" strike="noStrike">
              <a:solidFill>
                <a:srgbClr val="087e8b"/>
              </a:solidFill>
              <a:latin typeface="Arial"/>
            </a:endParaRPr>
          </a:p>
        </p:txBody>
      </p:sp>
      <p:sp>
        <p:nvSpPr>
          <p:cNvPr id="216" name="Rectangle 18"/>
          <p:cNvSpPr/>
          <p:nvPr/>
        </p:nvSpPr>
        <p:spPr>
          <a:xfrm>
            <a:off x="8136000" y="2286000"/>
            <a:ext cx="3096000" cy="1224000"/>
          </a:xfrm>
          <a:prstGeom prst="rect">
            <a:avLst/>
          </a:prstGeom>
          <a:noFill/>
          <a:ln>
            <a:noFill/>
          </a:ln>
        </p:spPr>
        <p:txBody>
          <a:bodyPr lIns="0" rIns="0" tIns="0" bIns="0" anchorCtr="1">
            <a:noAutofit/>
          </a:bodyPr>
          <a:p>
            <a:r>
              <a:rPr b="1" lang="en-US" sz="1600" spc="-1" strike="noStrike">
                <a:solidFill>
                  <a:srgbClr val="18324b"/>
                </a:solidFill>
                <a:latin typeface="Arial"/>
              </a:rPr>
              <a:t>Connect image-space results to native-UV bakes from unseen cameras and report transfer boundaries.</a:t>
            </a:r>
            <a:endParaRPr b="1" lang="en-US" sz="1600" spc="-1" strike="noStrike">
              <a:solidFill>
                <a:srgbClr val="18324b"/>
              </a:solidFill>
              <a:latin typeface="Arial"/>
            </a:endParaRPr>
          </a:p>
        </p:txBody>
      </p:sp>
      <p:sp>
        <p:nvSpPr>
          <p:cNvPr id="217" name="Rectangle 19"/>
          <p:cNvSpPr/>
          <p:nvPr/>
        </p:nvSpPr>
        <p:spPr>
          <a:xfrm>
            <a:off x="540000" y="4032000"/>
            <a:ext cx="10728000" cy="1008000"/>
          </a:xfrm>
          <a:prstGeom prst="rect">
            <a:avLst/>
          </a:prstGeom>
          <a:solidFill>
            <a:srgbClr val="e8f1f5"/>
          </a:solidFill>
          <a:ln>
            <a:noFill/>
          </a:ln>
        </p:spPr>
      </p:sp>
      <p:sp>
        <p:nvSpPr>
          <p:cNvPr id="218" name="Rectangle 20"/>
          <p:cNvSpPr/>
          <p:nvPr/>
        </p:nvSpPr>
        <p:spPr>
          <a:xfrm>
            <a:off x="684000" y="4158000"/>
            <a:ext cx="10440000" cy="756000"/>
          </a:xfrm>
          <a:prstGeom prst="rect">
            <a:avLst/>
          </a:prstGeom>
          <a:noFill/>
          <a:ln>
            <a:noFill/>
          </a:ln>
        </p:spPr>
        <p:txBody>
          <a:bodyPr lIns="0" rIns="0" tIns="0" bIns="0" anchorCtr="1">
            <a:noAutofit/>
          </a:bodyPr>
          <a:p>
            <a:pPr algn="r"/>
            <a:r>
              <a:rPr b="1" lang="en-US" sz="1600" spc="-1" strike="noStrike">
                <a:solidFill>
                  <a:srgbClr val="18324b"/>
                </a:solidFill>
                <a:latin typeface="Arial"/>
              </a:rPr>
              <a:t>The evidence supports reporting the executed interface, applied control, cohort, and asset-level response.</a:t>
            </a:r>
            <a:endParaRPr b="1" lang="en-US" sz="1600" spc="-1" strike="noStrike">
              <a:solidFill>
                <a:srgbClr val="18324b"/>
              </a:solidFill>
              <a:latin typeface="Arial"/>
            </a:endParaRPr>
          </a:p>
          <a:p>
            <a:pPr algn="r"/>
            <a:r>
              <a:rPr b="1" lang="en-US" sz="1600" spc="-1" strike="noStrike">
                <a:solidFill>
                  <a:srgbClr val="18324b"/>
                </a:solidFill>
                <a:latin typeface="Arial"/>
              </a:rPr>
              <a:t>It does not identify a universally preferred schedule or establish faithful material reproduction.</a:t>
            </a:r>
            <a:endParaRPr b="1" lang="en-US" sz="1600" spc="-1" strike="noStrike">
              <a:solidFill>
                <a:srgbClr val="18324b"/>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Rectangle 1"/>
          <p:cNvSpPr/>
          <p:nvPr/>
        </p:nvSpPr>
        <p:spPr>
          <a:xfrm>
            <a:off x="0" y="0"/>
            <a:ext cx="12192120" cy="6858000"/>
          </a:xfrm>
          <a:prstGeom prst="rect">
            <a:avLst/>
          </a:prstGeom>
          <a:solidFill>
            <a:srgbClr val="18324b"/>
          </a:solidFill>
          <a:ln>
            <a:noFill/>
          </a:ln>
        </p:spPr>
      </p:sp>
      <p:sp>
        <p:nvSpPr>
          <p:cNvPr id="220" name="Rectangle 2"/>
          <p:cNvSpPr/>
          <p:nvPr/>
        </p:nvSpPr>
        <p:spPr>
          <a:xfrm>
            <a:off x="0" y="0"/>
            <a:ext cx="129600" cy="6858000"/>
          </a:xfrm>
          <a:prstGeom prst="rect">
            <a:avLst/>
          </a:prstGeom>
          <a:solidFill>
            <a:srgbClr val="087e8b"/>
          </a:solidFill>
          <a:ln>
            <a:noFill/>
          </a:ln>
        </p:spPr>
      </p:sp>
      <p:sp>
        <p:nvSpPr>
          <p:cNvPr id="221" name="Rectangle 3"/>
          <p:cNvSpPr/>
          <p:nvPr/>
        </p:nvSpPr>
        <p:spPr>
          <a:xfrm>
            <a:off x="684000" y="360000"/>
            <a:ext cx="10440000" cy="180000"/>
          </a:xfrm>
          <a:prstGeom prst="rect">
            <a:avLst/>
          </a:prstGeom>
          <a:noFill/>
          <a:ln>
            <a:noFill/>
          </a:ln>
        </p:spPr>
        <p:txBody>
          <a:bodyPr lIns="0" rIns="0" tIns="0" bIns="0" anchorCtr="1">
            <a:noAutofit/>
          </a:bodyPr>
          <a:p>
            <a:r>
              <a:rPr b="1" lang="en-US" sz="1200" spc="-1" strike="noStrike">
                <a:solidFill>
                  <a:srgbClr val="b9e3e5"/>
                </a:solidFill>
                <a:latin typeface="Arial"/>
              </a:rPr>
              <a:t>CONCLUSION  |  LIMITED PUBLIC DATA</a:t>
            </a:r>
            <a:endParaRPr b="1" lang="en-US" sz="1200" spc="-1" strike="noStrike">
              <a:solidFill>
                <a:srgbClr val="b9e3e5"/>
              </a:solidFill>
              <a:latin typeface="Arial"/>
            </a:endParaRPr>
          </a:p>
        </p:txBody>
      </p:sp>
      <p:sp>
        <p:nvSpPr>
          <p:cNvPr id="222" name="Rectangle 4"/>
          <p:cNvSpPr/>
          <p:nvPr/>
        </p:nvSpPr>
        <p:spPr>
          <a:xfrm>
            <a:off x="684000" y="738000"/>
            <a:ext cx="10584000" cy="684000"/>
          </a:xfrm>
          <a:prstGeom prst="rect">
            <a:avLst/>
          </a:prstGeom>
          <a:noFill/>
          <a:ln>
            <a:noFill/>
          </a:ln>
        </p:spPr>
        <p:txBody>
          <a:bodyPr lIns="0" rIns="0" tIns="0" bIns="0" anchorCtr="1">
            <a:noAutofit/>
          </a:bodyPr>
          <a:p>
            <a:r>
              <a:rPr b="1" lang="en-US" sz="2700" spc="-1" strike="noStrike">
                <a:solidFill>
                  <a:srgbClr val="ffffff"/>
                </a:solidFill>
                <a:latin typeface="Arial"/>
              </a:rPr>
              <a:t>No universal timing winner.</a:t>
            </a:r>
            <a:endParaRPr b="1" lang="en-US" sz="2700" spc="-1" strike="noStrike">
              <a:solidFill>
                <a:srgbClr val="ffffff"/>
              </a:solidFill>
              <a:latin typeface="Arial"/>
            </a:endParaRPr>
          </a:p>
          <a:p>
            <a:r>
              <a:rPr b="1" lang="en-US" sz="2700" spc="-1" strike="noStrike">
                <a:solidFill>
                  <a:srgbClr val="ffffff"/>
                </a:solidFill>
                <a:latin typeface="Arial"/>
              </a:rPr>
              <a:t>The baked asset remains the graphics endpoint.</a:t>
            </a:r>
            <a:endParaRPr b="1" lang="en-US" sz="2700" spc="-1" strike="noStrike">
              <a:solidFill>
                <a:srgbClr val="ffffff"/>
              </a:solidFill>
              <a:latin typeface="Arial"/>
            </a:endParaRPr>
          </a:p>
        </p:txBody>
      </p:sp>
      <p:sp>
        <p:nvSpPr>
          <p:cNvPr id="223" name="Rectangle 5"/>
          <p:cNvSpPr/>
          <p:nvPr/>
        </p:nvSpPr>
        <p:spPr>
          <a:xfrm>
            <a:off x="684000" y="1872000"/>
            <a:ext cx="10548000" cy="612000"/>
          </a:xfrm>
          <a:prstGeom prst="rect">
            <a:avLst/>
          </a:prstGeom>
          <a:noFill/>
          <a:ln>
            <a:noFill/>
          </a:ln>
        </p:spPr>
        <p:txBody>
          <a:bodyPr lIns="0" rIns="0" tIns="0" bIns="0" anchorCtr="1">
            <a:noAutofit/>
          </a:bodyPr>
          <a:p>
            <a:r>
              <a:rPr b="0" lang="en-US" sz="1600" spc="-1" strike="noStrike">
                <a:solidFill>
                  <a:srgbClr val="ffffff"/>
                </a:solidFill>
                <a:latin typeface="Arial"/>
              </a:rPr>
              <a:t>C3 improves over Fixed Low, but stronger controls lead on mean image endpoints. The matched-budget primary detects no middle-window advantage. A small GeoTex bake benefit does not recur in the separate GSO protocol.</a:t>
            </a:r>
            <a:endParaRPr b="0" lang="en-US" sz="1600" spc="-1" strike="noStrike">
              <a:solidFill>
                <a:srgbClr val="ffffff"/>
              </a:solidFill>
              <a:latin typeface="Arial"/>
            </a:endParaRPr>
          </a:p>
        </p:txBody>
      </p:sp>
      <p:sp>
        <p:nvSpPr>
          <p:cNvPr id="224" name="Rectangle 6"/>
          <p:cNvSpPr/>
          <p:nvPr/>
        </p:nvSpPr>
        <p:spPr>
          <a:xfrm>
            <a:off x="648000" y="2916000"/>
            <a:ext cx="10656000" cy="1548000"/>
          </a:xfrm>
          <a:prstGeom prst="rect">
            <a:avLst/>
          </a:prstGeom>
          <a:solidFill>
            <a:srgbClr val="24465f"/>
          </a:solidFill>
          <a:ln>
            <a:noFill/>
          </a:ln>
        </p:spPr>
      </p:sp>
      <p:sp>
        <p:nvSpPr>
          <p:cNvPr id="225" name="Rectangle 7"/>
          <p:cNvSpPr/>
          <p:nvPr/>
        </p:nvSpPr>
        <p:spPr>
          <a:xfrm>
            <a:off x="810000" y="3060000"/>
            <a:ext cx="10296000" cy="216000"/>
          </a:xfrm>
          <a:prstGeom prst="rect">
            <a:avLst/>
          </a:prstGeom>
          <a:noFill/>
          <a:ln>
            <a:noFill/>
          </a:ln>
        </p:spPr>
        <p:txBody>
          <a:bodyPr lIns="0" rIns="0" tIns="0" bIns="0" anchorCtr="1">
            <a:noAutofit/>
          </a:bodyPr>
          <a:p>
            <a:r>
              <a:rPr b="1" lang="en-US" sz="1200" spc="-1" strike="noStrike">
                <a:solidFill>
                  <a:srgbClr val="b9e3e5"/>
                </a:solidFill>
                <a:latin typeface="Arial"/>
              </a:rPr>
              <a:t>ZENODO · VERSION 1.0.1 · LIMITED DERIVED DATA</a:t>
            </a:r>
            <a:endParaRPr b="1" lang="en-US" sz="1200" spc="-1" strike="noStrike">
              <a:solidFill>
                <a:srgbClr val="b9e3e5"/>
              </a:solidFill>
              <a:latin typeface="Arial"/>
            </a:endParaRPr>
          </a:p>
        </p:txBody>
      </p:sp>
      <p:sp>
        <p:nvSpPr>
          <p:cNvPr id="226" name="Rectangle 8"/>
          <p:cNvSpPr/>
          <p:nvPr/>
        </p:nvSpPr>
        <p:spPr>
          <a:xfrm>
            <a:off x="810000" y="3366000"/>
            <a:ext cx="10296000" cy="306000"/>
          </a:xfrm>
          <a:prstGeom prst="rect">
            <a:avLst/>
          </a:prstGeom>
          <a:noFill/>
          <a:ln>
            <a:noFill/>
          </a:ln>
        </p:spPr>
        <p:txBody>
          <a:bodyPr lIns="0" rIns="0" tIns="0" bIns="0" anchorCtr="1">
            <a:noAutofit/>
          </a:bodyPr>
          <a:p>
            <a:r>
              <a:rPr b="1" lang="en-US" sz="2400" spc="-1" strike="noStrike">
                <a:solidFill>
                  <a:srgbClr val="ffffff"/>
                </a:solidFill>
                <a:latin typeface="Arial"/>
              </a:rPr>
              <a:t>DOI: 10.5281/zenodo.23383807</a:t>
            </a:r>
            <a:endParaRPr b="1" lang="en-US" sz="2400" spc="-1" strike="noStrike">
              <a:solidFill>
                <a:srgbClr val="ffffff"/>
              </a:solidFill>
              <a:latin typeface="Arial"/>
            </a:endParaRPr>
          </a:p>
        </p:txBody>
      </p:sp>
      <p:sp>
        <p:nvSpPr>
          <p:cNvPr id="227" name="Rectangle 9"/>
          <p:cNvSpPr/>
          <p:nvPr/>
        </p:nvSpPr>
        <p:spPr>
          <a:xfrm>
            <a:off x="810000" y="3780000"/>
            <a:ext cx="10296000" cy="432000"/>
          </a:xfrm>
          <a:prstGeom prst="rect">
            <a:avLst/>
          </a:prstGeom>
          <a:noFill/>
          <a:ln>
            <a:noFill/>
          </a:ln>
        </p:spPr>
        <p:txBody>
          <a:bodyPr lIns="0" rIns="0" tIns="0" bIns="0" anchorCtr="1">
            <a:noAutofit/>
          </a:bodyPr>
          <a:p>
            <a:r>
              <a:rPr b="0" lang="en-US" sz="1300" spc="-1" strike="noStrike">
                <a:solidFill>
                  <a:srgbClr val="e4edf4"/>
                </a:solidFill>
                <a:latin typeface="Arial"/>
              </a:rPr>
              <a:t>Selected object-level metrics and attribution records. Source meshes, textures, model weights, checkpoints, generated-image archives, and participant-level responses are excluded.</a:t>
            </a:r>
            <a:endParaRPr b="0" lang="en-US" sz="1300" spc="-1" strike="noStrike">
              <a:solidFill>
                <a:srgbClr val="e4edf4"/>
              </a:solidFill>
              <a:latin typeface="Arial"/>
            </a:endParaRPr>
          </a:p>
        </p:txBody>
      </p:sp>
      <p:sp>
        <p:nvSpPr>
          <p:cNvPr id="228" name="Rectangle 10"/>
          <p:cNvSpPr/>
          <p:nvPr/>
        </p:nvSpPr>
        <p:spPr>
          <a:xfrm>
            <a:off x="684000" y="5364000"/>
            <a:ext cx="10296000" cy="270000"/>
          </a:xfrm>
          <a:prstGeom prst="rect">
            <a:avLst/>
          </a:prstGeom>
          <a:noFill/>
          <a:ln>
            <a:noFill/>
          </a:ln>
        </p:spPr>
        <p:txBody>
          <a:bodyPr lIns="0" rIns="0" tIns="0" bIns="0" anchorCtr="1">
            <a:noAutofit/>
          </a:bodyPr>
          <a:p>
            <a:r>
              <a:rPr b="1" lang="en-US" sz="1900" spc="-1" strike="noStrike">
                <a:solidFill>
                  <a:srgbClr val="ffffff"/>
                </a:solidFill>
                <a:latin typeface="Arial"/>
              </a:rPr>
              <a:t>Thank you</a:t>
            </a:r>
            <a:endParaRPr b="1" lang="en-US" sz="1900" spc="-1" strike="noStrike">
              <a:solidFill>
                <a:srgbClr val="ffffff"/>
              </a:solidFill>
              <a:latin typeface="Arial"/>
            </a:endParaRPr>
          </a:p>
        </p:txBody>
      </p:sp>
      <p:sp>
        <p:nvSpPr>
          <p:cNvPr id="229" name="Rectangle 11"/>
          <p:cNvSpPr/>
          <p:nvPr/>
        </p:nvSpPr>
        <p:spPr>
          <a:xfrm>
            <a:off x="684000" y="5688000"/>
            <a:ext cx="10296000" cy="216000"/>
          </a:xfrm>
          <a:prstGeom prst="rect">
            <a:avLst/>
          </a:prstGeom>
          <a:noFill/>
          <a:ln>
            <a:noFill/>
          </a:ln>
        </p:spPr>
        <p:txBody>
          <a:bodyPr lIns="0" rIns="0" tIns="0" bIns="0" anchorCtr="1">
            <a:noAutofit/>
          </a:bodyPr>
          <a:p>
            <a:r>
              <a:rPr b="0" lang="en-US" sz="1200" spc="-1" strike="noStrike">
                <a:solidFill>
                  <a:srgbClr val="b9e3e5"/>
                </a:solidFill>
                <a:latin typeface="Arial"/>
              </a:rPr>
              <a:t>https://doi.org/10.5281/zenodo.23383807</a:t>
            </a:r>
            <a:endParaRPr b="0" lang="en-US" sz="1200" spc="-1" strike="noStrike">
              <a:solidFill>
                <a:srgbClr val="b9e3e5"/>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2026-10-15T04:13:24Z</dcterms:created>
  <dc:creator/>
  <dc:description/>
  <dc:language>en-US</dc:language>
  <cp:lastModifiedBy/>
  <dcterms:modified xsi:type="dcterms:W3CDTF">2026-10-15T04:13:25Z</dcterms:modified>
  <cp:revision>1</cp:revision>
  <dc:subject/>
  <dc:title/>
</cp:coreProperties>
</file>